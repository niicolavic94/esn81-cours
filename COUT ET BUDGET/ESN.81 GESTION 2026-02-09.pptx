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9"/>
  </p:notesMasterIdLst>
  <p:sldIdLst>
    <p:sldId id="269" r:id="rId2"/>
    <p:sldId id="321" r:id="rId3"/>
    <p:sldId id="276" r:id="rId4"/>
    <p:sldId id="271" r:id="rId5"/>
    <p:sldId id="309" r:id="rId6"/>
    <p:sldId id="326" r:id="rId7"/>
    <p:sldId id="322" r:id="rId8"/>
    <p:sldId id="323" r:id="rId9"/>
    <p:sldId id="324" r:id="rId10"/>
    <p:sldId id="325" r:id="rId11"/>
    <p:sldId id="327" r:id="rId12"/>
    <p:sldId id="333" r:id="rId13"/>
    <p:sldId id="339" r:id="rId14"/>
    <p:sldId id="340" r:id="rId15"/>
    <p:sldId id="338" r:id="rId16"/>
    <p:sldId id="334" r:id="rId17"/>
    <p:sldId id="335" r:id="rId18"/>
    <p:sldId id="341" r:id="rId19"/>
    <p:sldId id="307" r:id="rId20"/>
    <p:sldId id="308" r:id="rId21"/>
    <p:sldId id="328" r:id="rId22"/>
    <p:sldId id="336" r:id="rId23"/>
    <p:sldId id="337" r:id="rId24"/>
    <p:sldId id="329" r:id="rId25"/>
    <p:sldId id="330" r:id="rId26"/>
    <p:sldId id="331" r:id="rId27"/>
    <p:sldId id="332" r:id="rId28"/>
  </p:sldIdLst>
  <p:sldSz cx="9906000" cy="6858000" type="A4"/>
  <p:notesSz cx="6808788" cy="99409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 id="2" name="Rémy Durand" initials="RD" lastIdx="1" clrIdx="1">
    <p:extLst>
      <p:ext uri="{19B8F6BF-5375-455C-9EA6-DF929625EA0E}">
        <p15:presenceInfo xmlns:p15="http://schemas.microsoft.com/office/powerpoint/2012/main" userId="Rémy Duran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7" autoAdjust="0"/>
    <p:restoredTop sz="86410" autoAdjust="0"/>
  </p:normalViewPr>
  <p:slideViewPr>
    <p:cSldViewPr snapToGrid="0">
      <p:cViewPr varScale="1">
        <p:scale>
          <a:sx n="94" d="100"/>
          <a:sy n="94" d="100"/>
        </p:scale>
        <p:origin x="942" y="90"/>
      </p:cViewPr>
      <p:guideLst/>
    </p:cSldViewPr>
  </p:slideViewPr>
  <p:outlineViewPr>
    <p:cViewPr>
      <p:scale>
        <a:sx n="33" d="100"/>
        <a:sy n="33" d="100"/>
      </p:scale>
      <p:origin x="0" y="-1426"/>
    </p:cViewPr>
  </p:outlineViewPr>
  <p:notesTextViewPr>
    <p:cViewPr>
      <p:scale>
        <a:sx n="3" d="2"/>
        <a:sy n="3" d="2"/>
      </p:scale>
      <p:origin x="0" y="0"/>
    </p:cViewPr>
  </p:notesTextViewPr>
  <p:sorterViewPr>
    <p:cViewPr varScale="1">
      <p:scale>
        <a:sx n="1" d="1"/>
        <a:sy n="1" d="1"/>
      </p:scale>
      <p:origin x="0" y="-1315"/>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51163" cy="4984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6038" y="0"/>
            <a:ext cx="2951162" cy="498475"/>
          </a:xfrm>
          <a:prstGeom prst="rect">
            <a:avLst/>
          </a:prstGeom>
        </p:spPr>
        <p:txBody>
          <a:bodyPr vert="horz" lIns="91440" tIns="45720" rIns="91440" bIns="45720" rtlCol="0"/>
          <a:lstStyle>
            <a:lvl1pPr algn="r">
              <a:defRPr sz="1200"/>
            </a:lvl1pPr>
          </a:lstStyle>
          <a:p>
            <a:fld id="{4BC1B124-DCE1-4F60-B0CC-97C818A577C5}" type="datetimeFigureOut">
              <a:rPr lang="fr-FR" smtClean="0"/>
              <a:t>12/02/2026</a:t>
            </a:fld>
            <a:endParaRPr lang="fr-FR"/>
          </a:p>
        </p:txBody>
      </p:sp>
      <p:sp>
        <p:nvSpPr>
          <p:cNvPr id="4" name="Espace réservé de l'image des diapositives 3"/>
          <p:cNvSpPr>
            <a:spLocks noGrp="1" noRot="1" noChangeAspect="1"/>
          </p:cNvSpPr>
          <p:nvPr>
            <p:ph type="sldImg" idx="2"/>
          </p:nvPr>
        </p:nvSpPr>
        <p:spPr>
          <a:xfrm>
            <a:off x="981075" y="1243013"/>
            <a:ext cx="4846638" cy="3354387"/>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1038" y="4784725"/>
            <a:ext cx="5446712" cy="3913188"/>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42450"/>
            <a:ext cx="2951163" cy="4984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6038" y="9442450"/>
            <a:ext cx="2951162" cy="498475"/>
          </a:xfrm>
          <a:prstGeom prst="rect">
            <a:avLst/>
          </a:prstGeom>
        </p:spPr>
        <p:txBody>
          <a:bodyPr vert="horz" lIns="91440" tIns="45720" rIns="91440" bIns="45720" rtlCol="0" anchor="b"/>
          <a:lstStyle>
            <a:lvl1pPr algn="r">
              <a:defRPr sz="1200"/>
            </a:lvl1pPr>
          </a:lstStyle>
          <a:p>
            <a:fld id="{A734072B-EE99-4667-BE58-A5E8FBD769F6}" type="slidenum">
              <a:rPr lang="fr-FR" smtClean="0"/>
              <a:t>‹N°›</a:t>
            </a:fld>
            <a:endParaRPr lang="fr-FR"/>
          </a:p>
        </p:txBody>
      </p:sp>
    </p:spTree>
    <p:extLst>
      <p:ext uri="{BB962C8B-B14F-4D97-AF65-F5344CB8AC3E}">
        <p14:creationId xmlns:p14="http://schemas.microsoft.com/office/powerpoint/2010/main" val="2818486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734072B-EE99-4667-BE58-A5E8FBD769F6}" type="slidenum">
              <a:rPr lang="fr-FR" smtClean="0"/>
              <a:t>1</a:t>
            </a:fld>
            <a:endParaRPr lang="fr-FR"/>
          </a:p>
        </p:txBody>
      </p:sp>
    </p:spTree>
    <p:extLst>
      <p:ext uri="{BB962C8B-B14F-4D97-AF65-F5344CB8AC3E}">
        <p14:creationId xmlns:p14="http://schemas.microsoft.com/office/powerpoint/2010/main" val="4081399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A9974-162F-FA9E-6574-1226E37EA0F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4294663-82A5-D7DB-19F9-67FDADA93E3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4BFC7C6-BC3D-A29B-9476-623A7B767FC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6F88ECA-E6BE-13D4-625A-3453A982E36E}"/>
              </a:ext>
            </a:extLst>
          </p:cNvPr>
          <p:cNvSpPr>
            <a:spLocks noGrp="1"/>
          </p:cNvSpPr>
          <p:nvPr>
            <p:ph type="sldNum" sz="quarter" idx="5"/>
          </p:nvPr>
        </p:nvSpPr>
        <p:spPr/>
        <p:txBody>
          <a:bodyPr/>
          <a:lstStyle/>
          <a:p>
            <a:fld id="{A734072B-EE99-4667-BE58-A5E8FBD769F6}" type="slidenum">
              <a:rPr lang="fr-FR" smtClean="0"/>
              <a:t>11</a:t>
            </a:fld>
            <a:endParaRPr lang="fr-FR"/>
          </a:p>
        </p:txBody>
      </p:sp>
    </p:spTree>
    <p:extLst>
      <p:ext uri="{BB962C8B-B14F-4D97-AF65-F5344CB8AC3E}">
        <p14:creationId xmlns:p14="http://schemas.microsoft.com/office/powerpoint/2010/main" val="3084033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5F656-7455-FFE8-8A86-F6E028178B1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29AF182-4C3F-2EC0-FC17-FCB3C3F7C8F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8479BDF-6C60-0D81-A3D3-A72CCF8B80A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E4152C1-8FBF-D895-639A-1630E3D15C71}"/>
              </a:ext>
            </a:extLst>
          </p:cNvPr>
          <p:cNvSpPr>
            <a:spLocks noGrp="1"/>
          </p:cNvSpPr>
          <p:nvPr>
            <p:ph type="sldNum" sz="quarter" idx="5"/>
          </p:nvPr>
        </p:nvSpPr>
        <p:spPr/>
        <p:txBody>
          <a:bodyPr/>
          <a:lstStyle/>
          <a:p>
            <a:fld id="{A734072B-EE99-4667-BE58-A5E8FBD769F6}" type="slidenum">
              <a:rPr lang="fr-FR" smtClean="0"/>
              <a:t>12</a:t>
            </a:fld>
            <a:endParaRPr lang="fr-FR"/>
          </a:p>
        </p:txBody>
      </p:sp>
    </p:spTree>
    <p:extLst>
      <p:ext uri="{BB962C8B-B14F-4D97-AF65-F5344CB8AC3E}">
        <p14:creationId xmlns:p14="http://schemas.microsoft.com/office/powerpoint/2010/main" val="180535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3D4D5-1EBB-102D-2046-67470D901D0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8DE1C5D-C633-E6F4-922A-190403A4E56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4E28D20-ECE3-093B-FD75-3CD18CAD26A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FE079E1C-9462-CDFB-8C05-DAC7C06BC581}"/>
              </a:ext>
            </a:extLst>
          </p:cNvPr>
          <p:cNvSpPr>
            <a:spLocks noGrp="1"/>
          </p:cNvSpPr>
          <p:nvPr>
            <p:ph type="sldNum" sz="quarter" idx="5"/>
          </p:nvPr>
        </p:nvSpPr>
        <p:spPr/>
        <p:txBody>
          <a:bodyPr/>
          <a:lstStyle/>
          <a:p>
            <a:fld id="{A734072B-EE99-4667-BE58-A5E8FBD769F6}" type="slidenum">
              <a:rPr lang="fr-FR" smtClean="0"/>
              <a:t>13</a:t>
            </a:fld>
            <a:endParaRPr lang="fr-FR"/>
          </a:p>
        </p:txBody>
      </p:sp>
    </p:spTree>
    <p:extLst>
      <p:ext uri="{BB962C8B-B14F-4D97-AF65-F5344CB8AC3E}">
        <p14:creationId xmlns:p14="http://schemas.microsoft.com/office/powerpoint/2010/main" val="2832520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3EC4C-9221-DBDD-94CE-BD7A96DBEC4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2071920-6F59-CC2E-DB49-8A05D8984F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5967E75-5F19-5990-7966-35ABEB99EBB2}"/>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C9BA130-B389-34F1-527B-099B82324C4C}"/>
              </a:ext>
            </a:extLst>
          </p:cNvPr>
          <p:cNvSpPr>
            <a:spLocks noGrp="1"/>
          </p:cNvSpPr>
          <p:nvPr>
            <p:ph type="sldNum" sz="quarter" idx="5"/>
          </p:nvPr>
        </p:nvSpPr>
        <p:spPr/>
        <p:txBody>
          <a:bodyPr/>
          <a:lstStyle/>
          <a:p>
            <a:fld id="{A734072B-EE99-4667-BE58-A5E8FBD769F6}" type="slidenum">
              <a:rPr lang="fr-FR" smtClean="0"/>
              <a:t>14</a:t>
            </a:fld>
            <a:endParaRPr lang="fr-FR"/>
          </a:p>
        </p:txBody>
      </p:sp>
    </p:spTree>
    <p:extLst>
      <p:ext uri="{BB962C8B-B14F-4D97-AF65-F5344CB8AC3E}">
        <p14:creationId xmlns:p14="http://schemas.microsoft.com/office/powerpoint/2010/main" val="2815392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E9A3A-2805-5269-C9C5-5AED41F0719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959E587-791B-66E7-52D5-4D72A378D3C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8A47E83-BCE6-1A5F-99CA-B5D983E062D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2ED2D30-FA0A-7495-1B47-9A855240ED9B}"/>
              </a:ext>
            </a:extLst>
          </p:cNvPr>
          <p:cNvSpPr>
            <a:spLocks noGrp="1"/>
          </p:cNvSpPr>
          <p:nvPr>
            <p:ph type="sldNum" sz="quarter" idx="5"/>
          </p:nvPr>
        </p:nvSpPr>
        <p:spPr/>
        <p:txBody>
          <a:bodyPr/>
          <a:lstStyle/>
          <a:p>
            <a:fld id="{A734072B-EE99-4667-BE58-A5E8FBD769F6}" type="slidenum">
              <a:rPr lang="fr-FR" smtClean="0"/>
              <a:t>15</a:t>
            </a:fld>
            <a:endParaRPr lang="fr-FR"/>
          </a:p>
        </p:txBody>
      </p:sp>
    </p:spTree>
    <p:extLst>
      <p:ext uri="{BB962C8B-B14F-4D97-AF65-F5344CB8AC3E}">
        <p14:creationId xmlns:p14="http://schemas.microsoft.com/office/powerpoint/2010/main" val="790302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FEC98-5548-DC59-E2E6-498819757A2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B83B2BA-8B3F-2D66-EDE2-A5D6608370D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7E068BC-2E9B-BF6E-D14A-76D658F706F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8D90F2E-5B18-C295-8043-924300FDD12A}"/>
              </a:ext>
            </a:extLst>
          </p:cNvPr>
          <p:cNvSpPr>
            <a:spLocks noGrp="1"/>
          </p:cNvSpPr>
          <p:nvPr>
            <p:ph type="sldNum" sz="quarter" idx="5"/>
          </p:nvPr>
        </p:nvSpPr>
        <p:spPr/>
        <p:txBody>
          <a:bodyPr/>
          <a:lstStyle/>
          <a:p>
            <a:fld id="{A734072B-EE99-4667-BE58-A5E8FBD769F6}" type="slidenum">
              <a:rPr lang="fr-FR" smtClean="0"/>
              <a:t>16</a:t>
            </a:fld>
            <a:endParaRPr lang="fr-FR"/>
          </a:p>
        </p:txBody>
      </p:sp>
    </p:spTree>
    <p:extLst>
      <p:ext uri="{BB962C8B-B14F-4D97-AF65-F5344CB8AC3E}">
        <p14:creationId xmlns:p14="http://schemas.microsoft.com/office/powerpoint/2010/main" val="1647406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070F8-0B19-1574-BEF9-C2436272043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D64F3AB-7C51-3637-0CB9-D46166BE2BC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28CC074-2351-F4B6-204A-26AE5B5A1AA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A0ADFDE-753D-2343-80DD-1B3EA27728AF}"/>
              </a:ext>
            </a:extLst>
          </p:cNvPr>
          <p:cNvSpPr>
            <a:spLocks noGrp="1"/>
          </p:cNvSpPr>
          <p:nvPr>
            <p:ph type="sldNum" sz="quarter" idx="5"/>
          </p:nvPr>
        </p:nvSpPr>
        <p:spPr/>
        <p:txBody>
          <a:bodyPr/>
          <a:lstStyle/>
          <a:p>
            <a:fld id="{A734072B-EE99-4667-BE58-A5E8FBD769F6}" type="slidenum">
              <a:rPr lang="fr-FR" smtClean="0"/>
              <a:t>17</a:t>
            </a:fld>
            <a:endParaRPr lang="fr-FR"/>
          </a:p>
        </p:txBody>
      </p:sp>
    </p:spTree>
    <p:extLst>
      <p:ext uri="{BB962C8B-B14F-4D97-AF65-F5344CB8AC3E}">
        <p14:creationId xmlns:p14="http://schemas.microsoft.com/office/powerpoint/2010/main" val="2636498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889C9-DC26-2976-2EB0-12810783FEC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CE4356B-29DB-2414-5882-C186EA33DC7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EBD39AD-1F93-EF5D-B7E5-1421EBC8A96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957A94A-0C73-7226-C8A8-64A803694D7C}"/>
              </a:ext>
            </a:extLst>
          </p:cNvPr>
          <p:cNvSpPr>
            <a:spLocks noGrp="1"/>
          </p:cNvSpPr>
          <p:nvPr>
            <p:ph type="sldNum" sz="quarter" idx="5"/>
          </p:nvPr>
        </p:nvSpPr>
        <p:spPr/>
        <p:txBody>
          <a:bodyPr/>
          <a:lstStyle/>
          <a:p>
            <a:fld id="{A734072B-EE99-4667-BE58-A5E8FBD769F6}" type="slidenum">
              <a:rPr lang="fr-FR" smtClean="0"/>
              <a:t>18</a:t>
            </a:fld>
            <a:endParaRPr lang="fr-FR"/>
          </a:p>
        </p:txBody>
      </p:sp>
    </p:spTree>
    <p:extLst>
      <p:ext uri="{BB962C8B-B14F-4D97-AF65-F5344CB8AC3E}">
        <p14:creationId xmlns:p14="http://schemas.microsoft.com/office/powerpoint/2010/main" val="1514352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7FAE3-1612-A0D0-3F3B-4277A326A3B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20B7E7-3E84-97FD-DCC2-9169395C84B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CB7B0D6-9C6D-5374-6827-C544A29A789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025EC06-0CC3-3125-5583-E509DB542314}"/>
              </a:ext>
            </a:extLst>
          </p:cNvPr>
          <p:cNvSpPr>
            <a:spLocks noGrp="1"/>
          </p:cNvSpPr>
          <p:nvPr>
            <p:ph type="sldNum" sz="quarter" idx="5"/>
          </p:nvPr>
        </p:nvSpPr>
        <p:spPr/>
        <p:txBody>
          <a:bodyPr/>
          <a:lstStyle/>
          <a:p>
            <a:fld id="{A734072B-EE99-4667-BE58-A5E8FBD769F6}" type="slidenum">
              <a:rPr lang="fr-FR" smtClean="0"/>
              <a:t>21</a:t>
            </a:fld>
            <a:endParaRPr lang="fr-FR"/>
          </a:p>
        </p:txBody>
      </p:sp>
    </p:spTree>
    <p:extLst>
      <p:ext uri="{BB962C8B-B14F-4D97-AF65-F5344CB8AC3E}">
        <p14:creationId xmlns:p14="http://schemas.microsoft.com/office/powerpoint/2010/main" val="3449516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5D9AD-48A8-29FB-B9CA-026EF92730E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2EF298-CE04-38B7-D044-D838B22A03C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F6C0105-A43A-C77D-DF24-9E9C4551DFA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4A25F7F-EE99-C1BC-5D80-A1A9902577B7}"/>
              </a:ext>
            </a:extLst>
          </p:cNvPr>
          <p:cNvSpPr>
            <a:spLocks noGrp="1"/>
          </p:cNvSpPr>
          <p:nvPr>
            <p:ph type="sldNum" sz="quarter" idx="5"/>
          </p:nvPr>
        </p:nvSpPr>
        <p:spPr/>
        <p:txBody>
          <a:bodyPr/>
          <a:lstStyle/>
          <a:p>
            <a:fld id="{A734072B-EE99-4667-BE58-A5E8FBD769F6}" type="slidenum">
              <a:rPr lang="fr-FR" smtClean="0"/>
              <a:t>22</a:t>
            </a:fld>
            <a:endParaRPr lang="fr-FR"/>
          </a:p>
        </p:txBody>
      </p:sp>
    </p:spTree>
    <p:extLst>
      <p:ext uri="{BB962C8B-B14F-4D97-AF65-F5344CB8AC3E}">
        <p14:creationId xmlns:p14="http://schemas.microsoft.com/office/powerpoint/2010/main" val="1950763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AC5BC-EC9A-EBC6-6E95-8A9E7047899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E206E6-961A-A48C-F78D-6397B1831D4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9295E25-8761-2A8B-252D-9AF1A308D124}"/>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93D38CC-61EF-0319-802E-03F75788BD39}"/>
              </a:ext>
            </a:extLst>
          </p:cNvPr>
          <p:cNvSpPr>
            <a:spLocks noGrp="1"/>
          </p:cNvSpPr>
          <p:nvPr>
            <p:ph type="sldNum" sz="quarter" idx="5"/>
          </p:nvPr>
        </p:nvSpPr>
        <p:spPr/>
        <p:txBody>
          <a:bodyPr/>
          <a:lstStyle/>
          <a:p>
            <a:fld id="{A734072B-EE99-4667-BE58-A5E8FBD769F6}" type="slidenum">
              <a:rPr lang="fr-FR" smtClean="0"/>
              <a:t>23</a:t>
            </a:fld>
            <a:endParaRPr lang="fr-FR"/>
          </a:p>
        </p:txBody>
      </p:sp>
    </p:spTree>
    <p:extLst>
      <p:ext uri="{BB962C8B-B14F-4D97-AF65-F5344CB8AC3E}">
        <p14:creationId xmlns:p14="http://schemas.microsoft.com/office/powerpoint/2010/main" val="3389914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C0954-EAD5-A067-3C48-72AF60A7EC9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327A425-67B6-7F9D-74DC-A78D5A3501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057628D-4630-E635-A323-A9F5B26A6311}"/>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C52A77F-05D1-8AC1-2E04-9C9724182443}"/>
              </a:ext>
            </a:extLst>
          </p:cNvPr>
          <p:cNvSpPr>
            <a:spLocks noGrp="1"/>
          </p:cNvSpPr>
          <p:nvPr>
            <p:ph type="sldNum" sz="quarter" idx="5"/>
          </p:nvPr>
        </p:nvSpPr>
        <p:spPr/>
        <p:txBody>
          <a:bodyPr/>
          <a:lstStyle/>
          <a:p>
            <a:fld id="{A734072B-EE99-4667-BE58-A5E8FBD769F6}" type="slidenum">
              <a:rPr lang="fr-FR" smtClean="0"/>
              <a:t>24</a:t>
            </a:fld>
            <a:endParaRPr lang="fr-FR"/>
          </a:p>
        </p:txBody>
      </p:sp>
    </p:spTree>
    <p:extLst>
      <p:ext uri="{BB962C8B-B14F-4D97-AF65-F5344CB8AC3E}">
        <p14:creationId xmlns:p14="http://schemas.microsoft.com/office/powerpoint/2010/main" val="34682984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01A19-AE6C-97B8-56D7-429F0C29584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1D300A1-ACC0-47D7-46F8-5BE3BD17090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2262C76-C17D-4507-C5DE-178B4B823F0B}"/>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39ADAA7E-7941-6280-59EF-3B78B829941F}"/>
              </a:ext>
            </a:extLst>
          </p:cNvPr>
          <p:cNvSpPr>
            <a:spLocks noGrp="1"/>
          </p:cNvSpPr>
          <p:nvPr>
            <p:ph type="sldNum" sz="quarter" idx="5"/>
          </p:nvPr>
        </p:nvSpPr>
        <p:spPr/>
        <p:txBody>
          <a:bodyPr/>
          <a:lstStyle/>
          <a:p>
            <a:fld id="{A734072B-EE99-4667-BE58-A5E8FBD769F6}" type="slidenum">
              <a:rPr lang="fr-FR" smtClean="0"/>
              <a:t>25</a:t>
            </a:fld>
            <a:endParaRPr lang="fr-FR"/>
          </a:p>
        </p:txBody>
      </p:sp>
    </p:spTree>
    <p:extLst>
      <p:ext uri="{BB962C8B-B14F-4D97-AF65-F5344CB8AC3E}">
        <p14:creationId xmlns:p14="http://schemas.microsoft.com/office/powerpoint/2010/main" val="4042927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A5129-9771-228C-DCAC-9CB7BE7B126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11CDCA-6F6F-1491-95E0-5854B9BDCC9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72A4674-0421-D213-7A0F-A2573013C11D}"/>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DF852F33-A2CA-5385-97F8-2DE596F6848A}"/>
              </a:ext>
            </a:extLst>
          </p:cNvPr>
          <p:cNvSpPr>
            <a:spLocks noGrp="1"/>
          </p:cNvSpPr>
          <p:nvPr>
            <p:ph type="sldNum" sz="quarter" idx="5"/>
          </p:nvPr>
        </p:nvSpPr>
        <p:spPr/>
        <p:txBody>
          <a:bodyPr/>
          <a:lstStyle/>
          <a:p>
            <a:fld id="{A734072B-EE99-4667-BE58-A5E8FBD769F6}" type="slidenum">
              <a:rPr lang="fr-FR" smtClean="0"/>
              <a:t>26</a:t>
            </a:fld>
            <a:endParaRPr lang="fr-FR"/>
          </a:p>
        </p:txBody>
      </p:sp>
    </p:spTree>
    <p:extLst>
      <p:ext uri="{BB962C8B-B14F-4D97-AF65-F5344CB8AC3E}">
        <p14:creationId xmlns:p14="http://schemas.microsoft.com/office/powerpoint/2010/main" val="25291453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AE6B9-48D6-F2F9-A6F0-E9598FB45FC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38F19E-0FF6-3C5A-5812-8F3898520B7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996B13D-AA54-0DF0-C737-834B89B1DA2E}"/>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C7BA414-6D9C-605D-621D-A598ADEF7C9A}"/>
              </a:ext>
            </a:extLst>
          </p:cNvPr>
          <p:cNvSpPr>
            <a:spLocks noGrp="1"/>
          </p:cNvSpPr>
          <p:nvPr>
            <p:ph type="sldNum" sz="quarter" idx="5"/>
          </p:nvPr>
        </p:nvSpPr>
        <p:spPr/>
        <p:txBody>
          <a:bodyPr/>
          <a:lstStyle/>
          <a:p>
            <a:fld id="{A734072B-EE99-4667-BE58-A5E8FBD769F6}" type="slidenum">
              <a:rPr lang="fr-FR" smtClean="0"/>
              <a:t>27</a:t>
            </a:fld>
            <a:endParaRPr lang="fr-FR"/>
          </a:p>
        </p:txBody>
      </p:sp>
    </p:spTree>
    <p:extLst>
      <p:ext uri="{BB962C8B-B14F-4D97-AF65-F5344CB8AC3E}">
        <p14:creationId xmlns:p14="http://schemas.microsoft.com/office/powerpoint/2010/main" val="1057823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5446077" y="497840"/>
            <a:ext cx="4459923" cy="301205"/>
          </a:xfrm>
          <a:prstGeom prst="rect">
            <a:avLst/>
          </a:prstGeom>
        </p:spPr>
        <p:txBody>
          <a:bodyPr vert="horz" lIns="91440" tIns="45720" rIns="91440" bIns="45720" rtlCol="0" anchor="ctr">
            <a:noAutofit/>
          </a:bodyPr>
          <a:lstStyle/>
          <a:p>
            <a:r>
              <a:rPr lang="fr-FR" dirty="0"/>
              <a:t>Modifiez le style du titre</a:t>
            </a:r>
            <a:endParaRPr lang="en-US" dirty="0"/>
          </a:p>
        </p:txBody>
      </p:sp>
    </p:spTree>
    <p:extLst>
      <p:ext uri="{BB962C8B-B14F-4D97-AF65-F5344CB8AC3E}">
        <p14:creationId xmlns:p14="http://schemas.microsoft.com/office/powerpoint/2010/main" val="46171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446077" y="497840"/>
            <a:ext cx="4459923" cy="301205"/>
          </a:xfrm>
          <a:prstGeom prst="rect">
            <a:avLst/>
          </a:prstGeom>
        </p:spPr>
        <p:txBody>
          <a:bodyPr vert="horz" lIns="91440" tIns="45720" rIns="91440" bIns="45720" rtlCol="0" anchor="ctr">
            <a:noAutofit/>
          </a:bodyPr>
          <a:lstStyle/>
          <a:p>
            <a:r>
              <a:rPr lang="fr-FR" dirty="0"/>
              <a:t>Modifiez le style du titre</a:t>
            </a:r>
            <a:endParaRPr lang="en-US" dirty="0"/>
          </a:p>
        </p:txBody>
      </p:sp>
    </p:spTree>
    <p:extLst>
      <p:ext uri="{BB962C8B-B14F-4D97-AF65-F5344CB8AC3E}">
        <p14:creationId xmlns:p14="http://schemas.microsoft.com/office/powerpoint/2010/main" val="19786237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slide" Target="../slides/slide3.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WordPictureWatermark502679220" descr="aztec"/>
          <p:cNvPicPr>
            <a:picLocks noChangeAspect="1" noChangeArrowheads="1"/>
          </p:cNvPicPr>
          <p:nvPr userDrawn="1"/>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1261345" y="-1463"/>
            <a:ext cx="7301891" cy="6857218"/>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1" y="-1463"/>
            <a:ext cx="9906001" cy="685946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
        <p:nvSpPr>
          <p:cNvPr id="2" name="Title Placeholder 1"/>
          <p:cNvSpPr>
            <a:spLocks noGrp="1"/>
          </p:cNvSpPr>
          <p:nvPr>
            <p:ph type="title"/>
          </p:nvPr>
        </p:nvSpPr>
        <p:spPr>
          <a:xfrm>
            <a:off x="5446077" y="497840"/>
            <a:ext cx="4459923" cy="329294"/>
          </a:xfrm>
          <a:prstGeom prst="rect">
            <a:avLst/>
          </a:prstGeom>
        </p:spPr>
        <p:txBody>
          <a:bodyPr vert="horz" lIns="91440" tIns="45720" rIns="91440" bIns="45720" rtlCol="0" anchor="ctr">
            <a:noAutofit/>
          </a:bodyPr>
          <a:lstStyle/>
          <a:p>
            <a:r>
              <a:rPr lang="fr-FR" dirty="0"/>
              <a:t>Modifiez le style du titre</a:t>
            </a:r>
            <a:endParaRPr lang="en-US" dirty="0"/>
          </a:p>
        </p:txBody>
      </p:sp>
      <p:sp>
        <p:nvSpPr>
          <p:cNvPr id="10" name="Rectangle 9"/>
          <p:cNvSpPr/>
          <p:nvPr userDrawn="1"/>
        </p:nvSpPr>
        <p:spPr>
          <a:xfrm>
            <a:off x="0" y="-1463"/>
            <a:ext cx="9906000" cy="6832640"/>
          </a:xfrm>
          <a:prstGeom prst="rect">
            <a:avLst/>
          </a:prstGeom>
        </p:spPr>
        <p:txBody>
          <a:bodyPr wrap="square">
            <a:spAutoFit/>
          </a:bodyPr>
          <a:lstStyle/>
          <a:p>
            <a:r>
              <a:rPr lang="fr-FR" sz="1800" b="1"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ESN.81 |</a:t>
            </a:r>
            <a:r>
              <a:rPr lang="fr-FR" sz="1800" b="1" i="1" kern="1200"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 Gestion des coûts et du budget |</a:t>
            </a:r>
            <a:r>
              <a:rPr lang="fr-FR" sz="1800" b="1" dirty="0">
                <a:solidFill>
                  <a:schemeClr val="bg1">
                    <a:lumMod val="75000"/>
                  </a:schemeClr>
                </a:solidFill>
                <a:effectLst/>
                <a:latin typeface="Calibri" panose="020F0502020204030204" pitchFamily="34" charset="0"/>
                <a:ea typeface="Calibri" panose="020F0502020204030204" pitchFamily="34" charset="0"/>
                <a:cs typeface="Times New Roman" panose="02020603050405020304" pitchFamily="18" charset="0"/>
              </a:rPr>
              <a:t> Session 1 : Approche en études de cas</a:t>
            </a:r>
          </a:p>
          <a:p>
            <a:endParaRPr lang="fr-FR" sz="21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1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1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1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1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1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1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1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endParaRPr lang="fr-FR" sz="2000" b="1" dirty="0">
              <a:solidFill>
                <a:schemeClr val="bg1">
                  <a:lumMod val="75000"/>
                </a:schemeClr>
              </a:solidFill>
              <a:effectLst/>
              <a:latin typeface="Calibri" panose="020F0502020204030204" pitchFamily="34" charset="0"/>
              <a:cs typeface="Times New Roman" panose="02020603050405020304" pitchFamily="18" charset="0"/>
            </a:endParaRPr>
          </a:p>
          <a:p>
            <a:pPr marL="0" marR="0" lvl="0" indent="0" algn="r" defTabSz="914400" rtl="0" eaLnBrk="1" fontAlgn="auto" latinLnBrk="0" hangingPunct="1">
              <a:lnSpc>
                <a:spcPct val="100000"/>
              </a:lnSpc>
              <a:spcBef>
                <a:spcPts val="0"/>
              </a:spcBef>
              <a:spcAft>
                <a:spcPts val="0"/>
              </a:spcAft>
              <a:buClrTx/>
              <a:buSzTx/>
              <a:buFontTx/>
              <a:buNone/>
              <a:tabLst/>
              <a:defRPr/>
            </a:pPr>
            <a:r>
              <a:rPr lang="fr-FR" sz="1200" b="1" dirty="0">
                <a:solidFill>
                  <a:schemeClr val="bg1">
                    <a:lumMod val="75000"/>
                  </a:schemeClr>
                </a:solidFill>
                <a:ea typeface="Calibri" panose="020F0502020204030204" pitchFamily="34" charset="0"/>
                <a:cs typeface="Times New Roman" panose="02020603050405020304" pitchFamily="18" charset="0"/>
              </a:rPr>
              <a:t>Rémy Durand, 09/02/2026.</a:t>
            </a:r>
            <a:r>
              <a:rPr lang="fr-FR" sz="1200" dirty="0">
                <a:solidFill>
                  <a:srgbClr val="323232"/>
                </a:solidFill>
                <a:ea typeface="Calibri" panose="020F0502020204030204" pitchFamily="34" charset="0"/>
                <a:cs typeface="Times New Roman" panose="02020603050405020304" pitchFamily="18" charset="0"/>
              </a:rPr>
              <a:t> </a:t>
            </a:r>
            <a:r>
              <a:rPr lang="fr-FR" sz="1200" dirty="0"/>
              <a:t>p. </a:t>
            </a:r>
            <a:fld id="{8E1F7B51-3FCE-4EA1-9C9C-A7CFAC260D41}" type="slidenum">
              <a:rPr lang="fr-FR" sz="1200" smtClean="0"/>
              <a:pPr marL="0" marR="0" lvl="0" indent="0" algn="r" defTabSz="914400" rtl="0" eaLnBrk="1" fontAlgn="auto" latinLnBrk="0" hangingPunct="1">
                <a:lnSpc>
                  <a:spcPct val="100000"/>
                </a:lnSpc>
                <a:spcBef>
                  <a:spcPts val="0"/>
                </a:spcBef>
                <a:spcAft>
                  <a:spcPts val="0"/>
                </a:spcAft>
                <a:buClrTx/>
                <a:buSzTx/>
                <a:buFontTx/>
                <a:buNone/>
                <a:tabLst/>
                <a:defRPr/>
              </a:pPr>
              <a:t>‹N°›</a:t>
            </a:fld>
            <a:endParaRPr lang="fr-FR" sz="1200" dirty="0"/>
          </a:p>
        </p:txBody>
      </p:sp>
      <p:sp>
        <p:nvSpPr>
          <p:cNvPr id="3" name="Flèche : courbe vers le haut 2">
            <a:hlinkClick r:id="rId5" action="ppaction://hlinksldjump"/>
            <a:extLst>
              <a:ext uri="{FF2B5EF4-FFF2-40B4-BE49-F238E27FC236}">
                <a16:creationId xmlns:a16="http://schemas.microsoft.com/office/drawing/2014/main" id="{12D65D1D-DFA0-4F0E-896E-9D497D0F1D9B}"/>
              </a:ext>
            </a:extLst>
          </p:cNvPr>
          <p:cNvSpPr/>
          <p:nvPr userDrawn="1"/>
        </p:nvSpPr>
        <p:spPr>
          <a:xfrm rot="16200000">
            <a:off x="114974" y="384838"/>
            <a:ext cx="144000" cy="144000"/>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 name="Flèche : courbe vers le bas 3">
            <a:hlinkClick r:id="" action="ppaction://hlinkshowjump?jump=nextslide"/>
            <a:extLst>
              <a:ext uri="{FF2B5EF4-FFF2-40B4-BE49-F238E27FC236}">
                <a16:creationId xmlns:a16="http://schemas.microsoft.com/office/drawing/2014/main" id="{A220D6EE-2CA7-4680-9535-732B9F3AFE3A}"/>
              </a:ext>
            </a:extLst>
          </p:cNvPr>
          <p:cNvSpPr/>
          <p:nvPr userDrawn="1"/>
        </p:nvSpPr>
        <p:spPr>
          <a:xfrm rot="19103469">
            <a:off x="9511751" y="6339964"/>
            <a:ext cx="144000" cy="144000"/>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673859492"/>
      </p:ext>
    </p:extLst>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r" defTabSz="914400" rtl="0" eaLnBrk="1" latinLnBrk="0" hangingPunct="1">
        <a:lnSpc>
          <a:spcPct val="90000"/>
        </a:lnSpc>
        <a:spcBef>
          <a:spcPct val="0"/>
        </a:spcBef>
        <a:buNone/>
        <a:defRPr sz="2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8B5FEA54-D966-4F1F-8124-7DE6DDEA4EA5}"/>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FE3B1835-6176-4051-9055-B3C61D3FDA9F}"/>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A2A59167-6317-E07B-353E-3499480E00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16C8F985-45A0-4A66-AC58-435594037758}"/>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5F258C5C-E5BE-5B0E-FDC6-420F564076E6}"/>
              </a:ext>
            </a:extLst>
          </p:cNvPr>
          <p:cNvSpPr txBox="1"/>
          <p:nvPr/>
        </p:nvSpPr>
        <p:spPr>
          <a:xfrm>
            <a:off x="0" y="620486"/>
            <a:ext cx="9906000" cy="6047809"/>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Gestion des coûts et du budget</a:t>
            </a:r>
            <a:r>
              <a:rPr lang="fr-FR" sz="3200" dirty="0">
                <a:effectLst/>
                <a:latin typeface="Times New Roman" panose="02020603050405020304" pitchFamily="18" charset="0"/>
                <a:ea typeface="Times New Roman" panose="02020603050405020304" pitchFamily="18" charset="0"/>
              </a:rPr>
              <a:t>.</a:t>
            </a:r>
            <a:endParaRPr lang="fr-FR" sz="2000" dirty="0">
              <a:effectLst/>
              <a:latin typeface="Times New Roman" panose="02020603050405020304" pitchFamily="18" charset="0"/>
              <a:ea typeface="Times New Roman" panose="02020603050405020304" pitchFamily="18" charset="0"/>
            </a:endParaRPr>
          </a:p>
          <a:p>
            <a:pPr lvl="2">
              <a:spcBef>
                <a:spcPts val="600"/>
              </a:spcBef>
            </a:pPr>
            <a:endParaRPr lang="fr-FR" sz="2400" dirty="0"/>
          </a:p>
          <a:p>
            <a:pPr lvl="2">
              <a:spcBef>
                <a:spcPts val="600"/>
              </a:spcBef>
            </a:pPr>
            <a:r>
              <a:rPr lang="fr-FR" sz="2400" dirty="0"/>
              <a:t>Objectifs de ce module :</a:t>
            </a:r>
            <a:endParaRPr lang="fr-FR" sz="2000" dirty="0"/>
          </a:p>
          <a:p>
            <a:pPr marL="1524000" lvl="4" indent="-457200">
              <a:spcBef>
                <a:spcPts val="600"/>
              </a:spcBef>
              <a:buFont typeface="Wingdings" panose="05000000000000000000" pitchFamily="2" charset="2"/>
              <a:buChar char="è"/>
            </a:pPr>
            <a:r>
              <a:rPr lang="fr-FR" sz="2000" dirty="0"/>
              <a:t>Comprendre et utiliser les outils de suivi budgétaire dans la gestion de projet ;</a:t>
            </a:r>
          </a:p>
          <a:p>
            <a:pPr marL="1524000" lvl="4" indent="-457200">
              <a:spcBef>
                <a:spcPts val="600"/>
              </a:spcBef>
              <a:buFont typeface="Wingdings" panose="05000000000000000000" pitchFamily="2" charset="2"/>
              <a:buChar char="è"/>
            </a:pPr>
            <a:r>
              <a:rPr lang="fr-FR" sz="2000" dirty="0"/>
              <a:t>Maîtriser la gestion des coûts, l'analyse et l'optimisation des dépenses ;</a:t>
            </a:r>
          </a:p>
          <a:p>
            <a:pPr marL="1524000" lvl="4" indent="-457200">
              <a:spcBef>
                <a:spcPts val="600"/>
              </a:spcBef>
              <a:buFont typeface="Wingdings" panose="05000000000000000000" pitchFamily="2" charset="2"/>
              <a:buChar char="è"/>
            </a:pPr>
            <a:r>
              <a:rPr lang="fr-FR" sz="2000" dirty="0"/>
              <a:t>Savoir interpréter les indicateurs de performance financière pour prendre des décisions de gestion proactives.</a:t>
            </a:r>
            <a:endParaRPr lang="fr-FR" sz="2000" dirty="0">
              <a:latin typeface="Times New Roman" panose="02020603050405020304" pitchFamily="18" charset="0"/>
              <a:ea typeface="Times New Roman" panose="02020603050405020304" pitchFamily="18" charset="0"/>
            </a:endParaRPr>
          </a:p>
          <a:p>
            <a:pPr lvl="2">
              <a:spcBef>
                <a:spcPts val="600"/>
              </a:spcBef>
            </a:pPr>
            <a:endParaRPr lang="fr-FR" dirty="0"/>
          </a:p>
          <a:p>
            <a:pPr lvl="2">
              <a:spcBef>
                <a:spcPts val="600"/>
              </a:spcBef>
            </a:pPr>
            <a:r>
              <a:rPr lang="fr-FR" sz="2400" dirty="0"/>
              <a:t>En fait, votre parcours </a:t>
            </a:r>
            <a:r>
              <a:rPr lang="fr-FR" sz="2400" i="1" dirty="0"/>
              <a:t>via</a:t>
            </a:r>
            <a:r>
              <a:rPr lang="fr-FR" sz="2400" dirty="0"/>
              <a:t> ce module :</a:t>
            </a:r>
          </a:p>
          <a:p>
            <a:pPr lvl="4" indent="-457200">
              <a:spcBef>
                <a:spcPts val="600"/>
              </a:spcBef>
              <a:buFont typeface="Wingdings" panose="05000000000000000000" pitchFamily="2" charset="2"/>
              <a:buChar char="è"/>
            </a:pPr>
            <a:r>
              <a:rPr lang="fr-FR" sz="2000" dirty="0"/>
              <a:t>à partir de vos connaissances de base en </a:t>
            </a:r>
            <a:r>
              <a:rPr lang="fr-FR" sz="2000" u="sng" dirty="0"/>
              <a:t>gestion de projet</a:t>
            </a:r>
            <a:r>
              <a:rPr lang="fr-FR" sz="2000" dirty="0"/>
              <a:t>…</a:t>
            </a:r>
          </a:p>
          <a:p>
            <a:pPr lvl="4" indent="-457200">
              <a:spcBef>
                <a:spcPts val="600"/>
              </a:spcBef>
              <a:buFont typeface="Wingdings" panose="05000000000000000000" pitchFamily="2" charset="2"/>
              <a:buChar char="è"/>
            </a:pPr>
            <a:r>
              <a:rPr lang="fr-FR" sz="2000" dirty="0"/>
              <a:t>… arriver à effectuer un </a:t>
            </a:r>
            <a:r>
              <a:rPr lang="fr-FR" sz="2000" u="sng" dirty="0"/>
              <a:t>suivi continu</a:t>
            </a:r>
            <a:r>
              <a:rPr lang="fr-FR" sz="2000" dirty="0"/>
              <a:t> des </a:t>
            </a:r>
            <a:r>
              <a:rPr lang="fr-FR" sz="2000" u="sng" dirty="0"/>
              <a:t>indicateurs</a:t>
            </a:r>
            <a:r>
              <a:rPr lang="fr-FR" sz="2000" dirty="0"/>
              <a:t> de performance…</a:t>
            </a:r>
          </a:p>
          <a:p>
            <a:pPr lvl="4" indent="-457200">
              <a:spcBef>
                <a:spcPts val="600"/>
              </a:spcBef>
              <a:buFont typeface="Wingdings" panose="05000000000000000000" pitchFamily="2" charset="2"/>
              <a:buChar char="è"/>
            </a:pPr>
            <a:r>
              <a:rPr lang="fr-FR" sz="2000" dirty="0"/>
              <a:t>… en intégrant des</a:t>
            </a:r>
            <a:r>
              <a:rPr lang="fr-FR" sz="2000" u="sng" dirty="0"/>
              <a:t> outils de suivi </a:t>
            </a:r>
            <a:r>
              <a:rPr lang="fr-FR" sz="2000" dirty="0"/>
              <a:t>(budgétaire et coûts)…</a:t>
            </a:r>
          </a:p>
          <a:p>
            <a:pPr lvl="4" indent="-457200">
              <a:spcBef>
                <a:spcPts val="600"/>
              </a:spcBef>
              <a:buFont typeface="Wingdings" panose="05000000000000000000" pitchFamily="2" charset="2"/>
              <a:buChar char="è"/>
            </a:pPr>
            <a:r>
              <a:rPr lang="fr-FR" sz="2000" dirty="0"/>
              <a:t>… pour </a:t>
            </a:r>
            <a:r>
              <a:rPr lang="fr-FR" sz="2000" u="sng" dirty="0"/>
              <a:t>maintenir</a:t>
            </a:r>
            <a:r>
              <a:rPr lang="fr-FR" sz="2000" dirty="0"/>
              <a:t> une gestion </a:t>
            </a:r>
            <a:r>
              <a:rPr lang="fr-FR" sz="2000" i="1" dirty="0"/>
              <a:t>financière</a:t>
            </a:r>
            <a:r>
              <a:rPr lang="fr-FR" sz="2000" dirty="0"/>
              <a:t> précise et proactive du projet.</a:t>
            </a:r>
          </a:p>
          <a:p>
            <a:pPr marL="1371600" lvl="4">
              <a:spcBef>
                <a:spcPts val="600"/>
              </a:spcBef>
            </a:pPr>
            <a:r>
              <a:rPr lang="fr-FR" sz="2000" dirty="0"/>
              <a:t> </a:t>
            </a:r>
          </a:p>
          <a:p>
            <a:pPr marL="1371600" lvl="4">
              <a:spcBef>
                <a:spcPts val="600"/>
              </a:spcBef>
            </a:pPr>
            <a:endParaRPr lang="fr-FR" sz="2000" dirty="0"/>
          </a:p>
        </p:txBody>
      </p:sp>
    </p:spTree>
    <p:extLst>
      <p:ext uri="{BB962C8B-B14F-4D97-AF65-F5344CB8AC3E}">
        <p14:creationId xmlns:p14="http://schemas.microsoft.com/office/powerpoint/2010/main" val="42371802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F4811D-9F98-27F9-44BD-B3A92D0BFA59}"/>
              </a:ext>
            </a:extLst>
          </p:cNvPr>
          <p:cNvSpPr>
            <a:spLocks noGrp="1"/>
          </p:cNvSpPr>
          <p:nvPr>
            <p:ph type="title"/>
          </p:nvPr>
        </p:nvSpPr>
        <p:spPr/>
        <p:txBody>
          <a:bodyPr/>
          <a:lstStyle/>
          <a:p>
            <a:r>
              <a:rPr lang="fr-FR" b="1" dirty="0"/>
              <a:t>Sommaire</a:t>
            </a:r>
          </a:p>
        </p:txBody>
      </p:sp>
      <p:sp>
        <p:nvSpPr>
          <p:cNvPr id="3" name="ZoneTexte 2">
            <a:extLst>
              <a:ext uri="{FF2B5EF4-FFF2-40B4-BE49-F238E27FC236}">
                <a16:creationId xmlns:a16="http://schemas.microsoft.com/office/drawing/2014/main" id="{EBB50B2D-8751-8325-D14D-14E31903F057}"/>
              </a:ext>
            </a:extLst>
          </p:cNvPr>
          <p:cNvSpPr txBox="1"/>
          <p:nvPr/>
        </p:nvSpPr>
        <p:spPr>
          <a:xfrm>
            <a:off x="729343" y="1404257"/>
            <a:ext cx="8964249" cy="4416594"/>
          </a:xfrm>
          <a:prstGeom prst="rect">
            <a:avLst/>
          </a:prstGeom>
          <a:noFill/>
        </p:spPr>
        <p:txBody>
          <a:bodyPr wrap="none" rtlCol="0">
            <a:spAutoFit/>
          </a:bodyPr>
          <a:lstStyle/>
          <a:p>
            <a:r>
              <a:rPr lang="fr-FR" sz="3200" b="1" dirty="0"/>
              <a:t>Sections / chapitres du module :</a:t>
            </a:r>
          </a:p>
          <a:p>
            <a:endParaRPr lang="fr-FR" sz="3200" dirty="0"/>
          </a:p>
          <a:p>
            <a:pPr marL="1080000" lvl="1" indent="-720000">
              <a:spcAft>
                <a:spcPts val="600"/>
              </a:spcAft>
              <a:buFont typeface="+mj-lt"/>
              <a:buAutoNum type="arabicPeriod"/>
            </a:pPr>
            <a:r>
              <a:rPr lang="fr-FR" sz="3200" dirty="0"/>
              <a:t>Outils de suivi budgétaire</a:t>
            </a:r>
          </a:p>
          <a:p>
            <a:pPr marL="1080000" lvl="1" indent="-720000">
              <a:spcAft>
                <a:spcPts val="600"/>
              </a:spcAft>
              <a:buFont typeface="+mj-lt"/>
              <a:buAutoNum type="arabicPeriod"/>
            </a:pPr>
            <a:r>
              <a:rPr lang="fr-FR" sz="3200" dirty="0"/>
              <a:t>Gestion des coûts</a:t>
            </a:r>
          </a:p>
          <a:p>
            <a:pPr marL="1080000" lvl="1" indent="-720000">
              <a:spcAft>
                <a:spcPts val="600"/>
              </a:spcAft>
              <a:buFont typeface="+mj-lt"/>
              <a:buAutoNum type="arabicPeriod"/>
            </a:pPr>
            <a:r>
              <a:rPr lang="fr-FR" sz="3200" dirty="0"/>
              <a:t>Suivi continu des indicateurs de performance</a:t>
            </a:r>
          </a:p>
          <a:p>
            <a:pPr marL="1080000" lvl="1" indent="-720000">
              <a:spcAft>
                <a:spcPts val="600"/>
              </a:spcAft>
              <a:buFont typeface="+mj-lt"/>
              <a:buAutoNum type="arabicPeriod"/>
            </a:pPr>
            <a:r>
              <a:rPr lang="fr-FR" sz="3200" dirty="0"/>
              <a:t>Gestion proactive du projet</a:t>
            </a:r>
          </a:p>
          <a:p>
            <a:pPr marL="1080000" lvl="1" indent="-720000">
              <a:spcAft>
                <a:spcPts val="600"/>
              </a:spcAft>
              <a:buFont typeface="+mj-lt"/>
              <a:buAutoNum type="arabicPeriod"/>
            </a:pPr>
            <a:r>
              <a:rPr lang="fr-FR" sz="3200" dirty="0"/>
              <a:t>Amélioration continue de la gestion financière</a:t>
            </a:r>
          </a:p>
          <a:p>
            <a:pPr marL="360000" lvl="1">
              <a:spcAft>
                <a:spcPts val="600"/>
              </a:spcAft>
            </a:pPr>
            <a:r>
              <a:rPr lang="fr-FR" sz="3200" dirty="0"/>
              <a:t> </a:t>
            </a:r>
          </a:p>
        </p:txBody>
      </p:sp>
    </p:spTree>
    <p:extLst>
      <p:ext uri="{BB962C8B-B14F-4D97-AF65-F5344CB8AC3E}">
        <p14:creationId xmlns:p14="http://schemas.microsoft.com/office/powerpoint/2010/main" val="401374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446077" y="497840"/>
            <a:ext cx="4459923" cy="301205"/>
          </a:xfrm>
        </p:spPr>
        <p:txBody>
          <a:bodyPr/>
          <a:lstStyle/>
          <a:p>
            <a:r>
              <a:rPr lang="fr-FR" dirty="0"/>
              <a:t>Présentations</a:t>
            </a:r>
          </a:p>
        </p:txBody>
      </p:sp>
      <p:sp>
        <p:nvSpPr>
          <p:cNvPr id="5" name="Rectangle 4">
            <a:extLst>
              <a:ext uri="{FF2B5EF4-FFF2-40B4-BE49-F238E27FC236}">
                <a16:creationId xmlns:a16="http://schemas.microsoft.com/office/drawing/2014/main" id="{8B5FEA54-D966-4F1F-8124-7DE6DDEA4EA5}"/>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FE3B1835-6176-4051-9055-B3C61D3FDA9F}"/>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A2A59167-6317-E07B-353E-3499480E00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16C8F985-45A0-4A66-AC58-43559403775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5F258C5C-E5BE-5B0E-FDC6-420F564076E6}"/>
              </a:ext>
            </a:extLst>
          </p:cNvPr>
          <p:cNvSpPr txBox="1"/>
          <p:nvPr/>
        </p:nvSpPr>
        <p:spPr>
          <a:xfrm>
            <a:off x="0" y="1555056"/>
            <a:ext cx="9906000" cy="2451953"/>
          </a:xfrm>
          <a:prstGeom prst="rect">
            <a:avLst/>
          </a:prstGeom>
          <a:noFill/>
        </p:spPr>
        <p:txBody>
          <a:bodyPr wrap="square">
            <a:spAutoFit/>
          </a:bodyPr>
          <a:lstStyle/>
          <a:p>
            <a:pPr lvl="1" algn="ctr">
              <a:spcBef>
                <a:spcPts val="800"/>
              </a:spcBef>
            </a:pPr>
            <a:r>
              <a:rPr lang="fr-FR" sz="5400" b="1" i="1" dirty="0">
                <a:effectLst/>
                <a:latin typeface="Times New Roman" panose="02020603050405020304" pitchFamily="18" charset="0"/>
                <a:ea typeface="Times New Roman" panose="02020603050405020304" pitchFamily="18" charset="0"/>
              </a:rPr>
              <a:t>Présentations</a:t>
            </a:r>
          </a:p>
          <a:p>
            <a:pPr lvl="1" algn="ctr">
              <a:spcBef>
                <a:spcPts val="800"/>
              </a:spcBef>
            </a:pPr>
            <a:endParaRPr lang="fr-FR" sz="5400" b="1" i="1" dirty="0">
              <a:latin typeface="Times New Roman" panose="02020603050405020304" pitchFamily="18" charset="0"/>
              <a:ea typeface="Times New Roman" panose="02020603050405020304" pitchFamily="18" charset="0"/>
            </a:endParaRPr>
          </a:p>
          <a:p>
            <a:pPr lvl="1" algn="ctr">
              <a:spcBef>
                <a:spcPts val="800"/>
              </a:spcBef>
            </a:pPr>
            <a:r>
              <a:rPr lang="fr-FR" sz="3200" b="1" i="1" dirty="0">
                <a:effectLst/>
                <a:latin typeface="Times New Roman" panose="02020603050405020304" pitchFamily="18" charset="0"/>
                <a:ea typeface="Times New Roman" panose="02020603050405020304" pitchFamily="18" charset="0"/>
              </a:rPr>
              <a:t>Tour de table…</a:t>
            </a:r>
            <a:endParaRPr lang="fr-FR" sz="6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256460397"/>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446077" y="497840"/>
            <a:ext cx="4459923" cy="301205"/>
          </a:xfrm>
        </p:spPr>
        <p:txBody>
          <a:bodyPr/>
          <a:lstStyle/>
          <a:p>
            <a:r>
              <a:rPr lang="fr-FR" dirty="0"/>
              <a:t>Intervenant : Rémy DURAND</a:t>
            </a:r>
          </a:p>
        </p:txBody>
      </p:sp>
      <p:sp>
        <p:nvSpPr>
          <p:cNvPr id="5" name="Rectangle 4">
            <a:extLst>
              <a:ext uri="{FF2B5EF4-FFF2-40B4-BE49-F238E27FC236}">
                <a16:creationId xmlns:a16="http://schemas.microsoft.com/office/drawing/2014/main" id="{8B5FEA54-D966-4F1F-8124-7DE6DDEA4EA5}"/>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FE3B1835-6176-4051-9055-B3C61D3FDA9F}"/>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A2A59167-6317-E07B-353E-3499480E00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16C8F985-45A0-4A66-AC58-43559403775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8" name="ZoneTexte 7">
            <a:extLst>
              <a:ext uri="{FF2B5EF4-FFF2-40B4-BE49-F238E27FC236}">
                <a16:creationId xmlns:a16="http://schemas.microsoft.com/office/drawing/2014/main" id="{1ED2D38D-CE0A-642D-31B6-5E47283F117D}"/>
              </a:ext>
            </a:extLst>
          </p:cNvPr>
          <p:cNvSpPr txBox="1"/>
          <p:nvPr/>
        </p:nvSpPr>
        <p:spPr>
          <a:xfrm>
            <a:off x="0" y="826136"/>
            <a:ext cx="9906000" cy="4016484"/>
          </a:xfrm>
          <a:prstGeom prst="rect">
            <a:avLst/>
          </a:prstGeom>
          <a:noFill/>
        </p:spPr>
        <p:txBody>
          <a:bodyPr wrap="square">
            <a:spAutoFit/>
          </a:bodyPr>
          <a:lstStyle/>
          <a:p>
            <a:pPr lvl="1">
              <a:spcBef>
                <a:spcPts val="800"/>
              </a:spcBef>
            </a:pPr>
            <a:r>
              <a:rPr lang="fr-FR" b="1" i="1" dirty="0">
                <a:effectLst/>
                <a:latin typeface="Times New Roman" panose="02020603050405020304" pitchFamily="18" charset="0"/>
                <a:ea typeface="Times New Roman" panose="02020603050405020304" pitchFamily="18" charset="0"/>
              </a:rPr>
              <a:t>DUT Informatique de Gestion</a:t>
            </a:r>
            <a:r>
              <a:rPr lang="fr-FR" dirty="0">
                <a:effectLst/>
                <a:latin typeface="Times New Roman" panose="02020603050405020304" pitchFamily="18" charset="0"/>
                <a:ea typeface="Times New Roman" panose="02020603050405020304" pitchFamily="18" charset="0"/>
              </a:rPr>
              <a:t> </a:t>
            </a:r>
            <a:r>
              <a:rPr lang="fr-FR" dirty="0">
                <a:latin typeface="Times New Roman" panose="02020603050405020304" pitchFamily="18" charset="0"/>
                <a:ea typeface="Times New Roman" panose="02020603050405020304" pitchFamily="18" charset="0"/>
              </a:rPr>
              <a:t>Paul Sabatier Toulouse., puis </a:t>
            </a:r>
          </a:p>
          <a:p>
            <a:pPr lvl="1">
              <a:spcBef>
                <a:spcPts val="800"/>
              </a:spcBef>
            </a:pPr>
            <a:r>
              <a:rPr lang="fr-FR" dirty="0">
                <a:latin typeface="Times New Roman" panose="02020603050405020304" pitchFamily="18" charset="0"/>
                <a:ea typeface="Times New Roman" panose="02020603050405020304" pitchFamily="18" charset="0"/>
              </a:rPr>
              <a:t>	</a:t>
            </a:r>
            <a:r>
              <a:rPr lang="fr-FR" sz="1200" dirty="0">
                <a:latin typeface="Times New Roman" panose="02020603050405020304" pitchFamily="18" charset="0"/>
                <a:ea typeface="Times New Roman" panose="02020603050405020304" pitchFamily="18" charset="0"/>
              </a:rPr>
              <a:t>	</a:t>
            </a:r>
            <a:r>
              <a:rPr kumimoji="0" lang="fr-FR" sz="1800" i="1"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Diplôme de Hautes Études Technologiques </a:t>
            </a:r>
            <a:r>
              <a:rPr kumimoji="0" lang="fr-FR" sz="1800" b="1" i="1" u="none" strike="noStrike" kern="120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mn-cs"/>
              </a:rPr>
              <a:t>Corporate</a:t>
            </a:r>
            <a:r>
              <a:rPr kumimoji="0" lang="fr-FR" sz="1800" b="1" i="1"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IT, </a:t>
            </a:r>
            <a:r>
              <a:rPr lang="fr-FR" b="1" i="1" dirty="0">
                <a:solidFill>
                  <a:prstClr val="black"/>
                </a:solidFill>
                <a:latin typeface="Times New Roman" panose="02020603050405020304" pitchFamily="18" charset="0"/>
              </a:rPr>
              <a:t>ENSEEIHT Toulouse.</a:t>
            </a:r>
          </a:p>
          <a:p>
            <a:pPr lvl="1">
              <a:spcBef>
                <a:spcPts val="800"/>
              </a:spcBef>
            </a:pPr>
            <a:endParaRPr lang="fr-FR" b="1" i="1" dirty="0">
              <a:solidFill>
                <a:prstClr val="black"/>
              </a:solidFill>
              <a:latin typeface="Times New Roman" panose="02020603050405020304" pitchFamily="18" charset="0"/>
            </a:endParaRPr>
          </a:p>
          <a:p>
            <a:pPr lvl="1">
              <a:spcBef>
                <a:spcPts val="800"/>
              </a:spcBef>
              <a:spcAft>
                <a:spcPts val="600"/>
              </a:spcAft>
            </a:pPr>
            <a:r>
              <a:rPr lang="fr-FR" dirty="0">
                <a:effectLst/>
                <a:latin typeface="Times New Roman" panose="02020603050405020304" pitchFamily="18" charset="0"/>
                <a:ea typeface="Times New Roman" panose="02020603050405020304" pitchFamily="18" charset="0"/>
              </a:rPr>
              <a:t>5 ans	</a:t>
            </a:r>
            <a:r>
              <a:rPr lang="fr-FR" b="1" dirty="0">
                <a:effectLst/>
                <a:latin typeface="Times New Roman" panose="02020603050405020304" pitchFamily="18" charset="0"/>
                <a:ea typeface="Times New Roman" panose="02020603050405020304" pitchFamily="18" charset="0"/>
              </a:rPr>
              <a:t>Dev. puis chef de Projets </a:t>
            </a:r>
            <a:r>
              <a:rPr lang="fr-FR" b="1" dirty="0">
                <a:latin typeface="Times New Roman" panose="02020603050405020304" pitchFamily="18" charset="0"/>
                <a:ea typeface="Times New Roman" panose="02020603050405020304" pitchFamily="18" charset="0"/>
              </a:rPr>
              <a:t>/ plateformes </a:t>
            </a:r>
            <a:r>
              <a:rPr lang="fr-FR" b="1" dirty="0">
                <a:effectLst/>
                <a:latin typeface="Times New Roman" panose="02020603050405020304" pitchFamily="18" charset="0"/>
                <a:ea typeface="Times New Roman" panose="02020603050405020304" pitchFamily="18" charset="0"/>
              </a:rPr>
              <a:t>web transactionnelles</a:t>
            </a:r>
            <a:r>
              <a:rPr lang="fr-FR" dirty="0">
                <a:effectLst/>
                <a:latin typeface="Times New Roman" panose="02020603050405020304" pitchFamily="18" charset="0"/>
                <a:ea typeface="Times New Roman" panose="02020603050405020304" pitchFamily="18" charset="0"/>
              </a:rPr>
              <a:t>.</a:t>
            </a:r>
            <a:endParaRPr lang="fr-FR" sz="1200" dirty="0">
              <a:effectLst/>
              <a:latin typeface="Times New Roman" panose="02020603050405020304" pitchFamily="18" charset="0"/>
              <a:ea typeface="Times New Roman" panose="02020603050405020304" pitchFamily="18" charset="0"/>
            </a:endParaRPr>
          </a:p>
          <a:p>
            <a:pPr lvl="1">
              <a:spcBef>
                <a:spcPts val="800"/>
              </a:spcBef>
            </a:pPr>
            <a:r>
              <a:rPr lang="fr-FR" dirty="0">
                <a:effectLst/>
                <a:latin typeface="Times New Roman" panose="02020603050405020304" pitchFamily="18" charset="0"/>
                <a:ea typeface="Times New Roman" panose="02020603050405020304" pitchFamily="18" charset="0"/>
              </a:rPr>
              <a:t>10 ans	</a:t>
            </a:r>
            <a:r>
              <a:rPr lang="fr-FR" b="1" dirty="0">
                <a:effectLst/>
                <a:latin typeface="Times New Roman" panose="02020603050405020304" pitchFamily="18" charset="0"/>
                <a:ea typeface="Times New Roman" panose="02020603050405020304" pitchFamily="18" charset="0"/>
              </a:rPr>
              <a:t>Responsable Qualité Logiciels Aéronautiques puis contrôle de gestion</a:t>
            </a:r>
            <a:endParaRPr lang="fr-FR" sz="1200" dirty="0">
              <a:effectLst/>
              <a:latin typeface="Times New Roman" panose="02020603050405020304" pitchFamily="18" charset="0"/>
              <a:ea typeface="Times New Roman" panose="02020603050405020304" pitchFamily="18" charset="0"/>
            </a:endParaRPr>
          </a:p>
          <a:p>
            <a:pPr lvl="1">
              <a:spcBef>
                <a:spcPts val="800"/>
              </a:spcBef>
              <a:spcAft>
                <a:spcPts val="600"/>
              </a:spcAft>
            </a:pPr>
            <a:r>
              <a:rPr lang="fr-FR" dirty="0">
                <a:effectLst/>
                <a:latin typeface="Times New Roman" panose="02020603050405020304" pitchFamily="18" charset="0"/>
                <a:ea typeface="Times New Roman" panose="02020603050405020304" pitchFamily="18" charset="0"/>
              </a:rPr>
              <a:t>			</a:t>
            </a:r>
            <a:r>
              <a:rPr lang="fr-FR" b="1" i="1" dirty="0">
                <a:effectLst/>
                <a:latin typeface="Times New Roman" panose="02020603050405020304" pitchFamily="18" charset="0"/>
                <a:ea typeface="Times New Roman" panose="02020603050405020304" pitchFamily="18" charset="0"/>
              </a:rPr>
              <a:t>MBA, Management de l'Aérospatial</a:t>
            </a:r>
            <a:r>
              <a:rPr lang="fr-FR" dirty="0">
                <a:effectLst/>
                <a:latin typeface="Times New Roman" panose="02020603050405020304" pitchFamily="18" charset="0"/>
                <a:ea typeface="Times New Roman" panose="02020603050405020304" pitchFamily="18" charset="0"/>
              </a:rPr>
              <a:t>, Toulouse Business </a:t>
            </a:r>
            <a:r>
              <a:rPr lang="fr-FR" dirty="0" err="1">
                <a:effectLst/>
                <a:latin typeface="Times New Roman" panose="02020603050405020304" pitchFamily="18" charset="0"/>
                <a:ea typeface="Times New Roman" panose="02020603050405020304" pitchFamily="18" charset="0"/>
              </a:rPr>
              <a:t>School</a:t>
            </a:r>
            <a:r>
              <a:rPr lang="fr-FR" dirty="0">
                <a:latin typeface="Times New Roman" panose="02020603050405020304" pitchFamily="18" charset="0"/>
                <a:ea typeface="Times New Roman" panose="02020603050405020304" pitchFamily="18" charset="0"/>
              </a:rPr>
              <a:t>.</a:t>
            </a:r>
          </a:p>
          <a:p>
            <a:pPr lvl="1">
              <a:spcBef>
                <a:spcPts val="800"/>
              </a:spcBef>
            </a:pPr>
            <a:r>
              <a:rPr lang="fr-FR" dirty="0">
                <a:effectLst/>
                <a:latin typeface="Times New Roman" panose="02020603050405020304" pitchFamily="18" charset="0"/>
                <a:ea typeface="Times New Roman" panose="02020603050405020304" pitchFamily="18" charset="0"/>
              </a:rPr>
              <a:t>5 ans	</a:t>
            </a:r>
            <a:r>
              <a:rPr lang="fr-FR" b="1" dirty="0">
                <a:effectLst/>
                <a:latin typeface="Times New Roman" panose="02020603050405020304" pitchFamily="18" charset="0"/>
                <a:ea typeface="Times New Roman" panose="02020603050405020304" pitchFamily="18" charset="0"/>
              </a:rPr>
              <a:t>Responsable informatique</a:t>
            </a:r>
            <a:r>
              <a:rPr lang="fr-FR" dirty="0">
                <a:effectLst/>
                <a:latin typeface="Times New Roman" panose="02020603050405020304" pitchFamily="18" charset="0"/>
                <a:ea typeface="Times New Roman" panose="02020603050405020304" pitchFamily="18" charset="0"/>
              </a:rPr>
              <a:t>, Groupe Agri BTP / Hitach</a:t>
            </a:r>
            <a:r>
              <a:rPr lang="fr-FR" dirty="0">
                <a:latin typeface="Times New Roman" panose="02020603050405020304" pitchFamily="18" charset="0"/>
                <a:ea typeface="Times New Roman" panose="02020603050405020304" pitchFamily="18" charset="0"/>
              </a:rPr>
              <a:t>i France</a:t>
            </a:r>
            <a:r>
              <a:rPr lang="fr-FR" dirty="0">
                <a:effectLst/>
                <a:latin typeface="Times New Roman" panose="02020603050405020304" pitchFamily="18" charset="0"/>
                <a:ea typeface="Times New Roman" panose="02020603050405020304" pitchFamily="18" charset="0"/>
              </a:rPr>
              <a:t>.</a:t>
            </a:r>
          </a:p>
          <a:p>
            <a:pPr lvl="1">
              <a:spcBef>
                <a:spcPts val="800"/>
              </a:spcBef>
            </a:pPr>
            <a:r>
              <a:rPr kumimoji="0" lang="fr-FR" sz="1800" b="1" i="1"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Service Management</a:t>
            </a:r>
            <a:r>
              <a:rPr kumimoji="0" lang="fr-FR"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HITACHI </a:t>
            </a:r>
            <a:r>
              <a:rPr kumimoji="0" lang="fr-FR" sz="1800" b="0" i="0" u="none" strike="noStrike" kern="1200" cap="none" spc="0" normalizeH="0" baseline="0" noProof="0" dirty="0" err="1">
                <a:ln>
                  <a:noFill/>
                </a:ln>
                <a:solidFill>
                  <a:prstClr val="black"/>
                </a:solidFill>
                <a:effectLst/>
                <a:uLnTx/>
                <a:uFillTx/>
                <a:latin typeface="Times New Roman" panose="02020603050405020304" pitchFamily="18" charset="0"/>
                <a:ea typeface="Times New Roman" panose="02020603050405020304" pitchFamily="18" charset="0"/>
                <a:cs typeface="+mn-cs"/>
              </a:rPr>
              <a:t>Academy</a:t>
            </a:r>
            <a:r>
              <a:rPr kumimoji="0" lang="fr-FR" sz="18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Amsterdam.</a:t>
            </a:r>
          </a:p>
          <a:p>
            <a:pPr lvl="1">
              <a:spcBef>
                <a:spcPts val="800"/>
              </a:spcBef>
              <a:spcAft>
                <a:spcPts val="600"/>
              </a:spcAft>
            </a:pPr>
            <a:r>
              <a:rPr kumimoji="0" lang="fr-FR" sz="1800" b="1" i="1"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Certification Professionnelle RGPD.</a:t>
            </a:r>
            <a:endParaRPr lang="fr-FR" sz="1200" dirty="0">
              <a:effectLst/>
              <a:latin typeface="Times New Roman" panose="02020603050405020304" pitchFamily="18" charset="0"/>
              <a:ea typeface="Times New Roman" panose="02020603050405020304" pitchFamily="18" charset="0"/>
            </a:endParaRPr>
          </a:p>
          <a:p>
            <a:pPr lvl="1">
              <a:spcBef>
                <a:spcPts val="800"/>
              </a:spcBef>
            </a:pPr>
            <a:r>
              <a:rPr lang="fr-FR" dirty="0">
                <a:latin typeface="Times New Roman" panose="02020603050405020304" pitchFamily="18" charset="0"/>
                <a:ea typeface="Times New Roman" panose="02020603050405020304" pitchFamily="18" charset="0"/>
              </a:rPr>
              <a:t>D</a:t>
            </a:r>
            <a:r>
              <a:rPr lang="fr-FR" dirty="0">
                <a:effectLst/>
                <a:latin typeface="Times New Roman" panose="02020603050405020304" pitchFamily="18" charset="0"/>
                <a:ea typeface="Times New Roman" panose="02020603050405020304" pitchFamily="18" charset="0"/>
              </a:rPr>
              <a:t>epuis 2020	</a:t>
            </a:r>
            <a:r>
              <a:rPr lang="fr-FR" b="1" dirty="0">
                <a:effectLst/>
                <a:latin typeface="Times New Roman" panose="02020603050405020304" pitchFamily="18" charset="0"/>
                <a:ea typeface="Times New Roman" panose="02020603050405020304" pitchFamily="18" charset="0"/>
              </a:rPr>
              <a:t>Chargé de clientèle, consultant logiciels de gestion et de</a:t>
            </a:r>
            <a:r>
              <a:rPr lang="fr-FR" b="1" dirty="0">
                <a:latin typeface="Times New Roman" panose="02020603050405020304" pitchFamily="18" charset="0"/>
                <a:ea typeface="Times New Roman" panose="02020603050405020304" pitchFamily="18" charset="0"/>
              </a:rPr>
              <a:t> traçabilité alimentaire.</a:t>
            </a:r>
          </a:p>
        </p:txBody>
      </p:sp>
    </p:spTree>
    <p:extLst>
      <p:ext uri="{BB962C8B-B14F-4D97-AF65-F5344CB8AC3E}">
        <p14:creationId xmlns:p14="http://schemas.microsoft.com/office/powerpoint/2010/main" val="282210370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446077" y="497840"/>
            <a:ext cx="4459923" cy="301205"/>
          </a:xfrm>
        </p:spPr>
        <p:txBody>
          <a:bodyPr/>
          <a:lstStyle/>
          <a:p>
            <a:r>
              <a:rPr lang="fr-FR" dirty="0"/>
              <a:t>Présentation</a:t>
            </a:r>
          </a:p>
        </p:txBody>
      </p:sp>
      <p:sp>
        <p:nvSpPr>
          <p:cNvPr id="5" name="Rectangle 4">
            <a:extLst>
              <a:ext uri="{FF2B5EF4-FFF2-40B4-BE49-F238E27FC236}">
                <a16:creationId xmlns:a16="http://schemas.microsoft.com/office/drawing/2014/main" id="{8B5FEA54-D966-4F1F-8124-7DE6DDEA4EA5}"/>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FE3B1835-6176-4051-9055-B3C61D3FDA9F}"/>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A2A59167-6317-E07B-353E-3499480E00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16C8F985-45A0-4A66-AC58-43559403775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5F258C5C-E5BE-5B0E-FDC6-420F564076E6}"/>
              </a:ext>
            </a:extLst>
          </p:cNvPr>
          <p:cNvSpPr txBox="1"/>
          <p:nvPr/>
        </p:nvSpPr>
        <p:spPr>
          <a:xfrm>
            <a:off x="0" y="754810"/>
            <a:ext cx="9906000" cy="6924973"/>
          </a:xfrm>
          <a:prstGeom prst="rect">
            <a:avLst/>
          </a:prstGeom>
          <a:noFill/>
        </p:spPr>
        <p:txBody>
          <a:bodyPr wrap="square">
            <a:spAutoFit/>
          </a:bodyPr>
          <a:lstStyle/>
          <a:p>
            <a:pPr lvl="1" algn="ctr">
              <a:spcBef>
                <a:spcPts val="800"/>
              </a:spcBef>
            </a:pPr>
            <a:r>
              <a:rPr lang="fr-FR" sz="4800" b="1" i="1" dirty="0">
                <a:latin typeface="Times New Roman" panose="02020603050405020304" pitchFamily="18" charset="0"/>
                <a:ea typeface="Times New Roman" panose="02020603050405020304" pitchFamily="18" charset="0"/>
              </a:rPr>
              <a:t>Présentation / tour de table</a:t>
            </a:r>
            <a:endParaRPr lang="fr-FR" sz="5400" b="1" i="1" dirty="0">
              <a:latin typeface="Times New Roman" panose="02020603050405020304" pitchFamily="18" charset="0"/>
              <a:ea typeface="Times New Roman" panose="02020603050405020304" pitchFamily="18" charset="0"/>
            </a:endParaRPr>
          </a:p>
          <a:p>
            <a:pPr lvl="1" algn="ctr">
              <a:spcBef>
                <a:spcPts val="800"/>
              </a:spcBef>
            </a:pPr>
            <a:endParaRPr lang="fr-FR" sz="100" b="1" i="1" dirty="0">
              <a:latin typeface="Times New Roman" panose="02020603050405020304" pitchFamily="18" charset="0"/>
              <a:ea typeface="Times New Roman" panose="02020603050405020304" pitchFamily="18" charset="0"/>
            </a:endParaRPr>
          </a:p>
          <a:p>
            <a:pPr marL="1143000" lvl="1" indent="-685800">
              <a:spcBef>
                <a:spcPts val="600"/>
              </a:spcBef>
              <a:buFont typeface="Wingdings" panose="05000000000000000000" pitchFamily="2" charset="2"/>
              <a:buChar char="Ø"/>
            </a:pPr>
            <a:r>
              <a:rPr lang="fr-FR" sz="2400" b="1" i="1" dirty="0">
                <a:effectLst/>
                <a:latin typeface="Times New Roman" panose="02020603050405020304" pitchFamily="18" charset="0"/>
                <a:ea typeface="Times New Roman" panose="02020603050405020304" pitchFamily="18" charset="0"/>
              </a:rPr>
              <a:t>1 min. 30</a:t>
            </a:r>
          </a:p>
          <a:p>
            <a:pPr lvl="1">
              <a:spcBef>
                <a:spcPts val="600"/>
              </a:spcBef>
            </a:pPr>
            <a:endParaRPr lang="fr-FR" sz="2400" b="1" i="1" dirty="0">
              <a:effectLst/>
              <a:latin typeface="Times New Roman" panose="02020603050405020304" pitchFamily="18" charset="0"/>
              <a:ea typeface="Times New Roman" panose="02020603050405020304" pitchFamily="18" charset="0"/>
            </a:endParaRPr>
          </a:p>
          <a:p>
            <a:pPr marL="1143000" lvl="1" indent="-685800">
              <a:spcBef>
                <a:spcPts val="600"/>
              </a:spcBef>
              <a:buFont typeface="Wingdings" panose="05000000000000000000" pitchFamily="2" charset="2"/>
              <a:buChar char="ü"/>
            </a:pPr>
            <a:r>
              <a:rPr lang="fr-FR" sz="2400" b="1" i="1" dirty="0">
                <a:effectLst/>
                <a:latin typeface="Times New Roman" panose="02020603050405020304" pitchFamily="18" charset="0"/>
                <a:ea typeface="Times New Roman" panose="02020603050405020304" pitchFamily="18" charset="0"/>
              </a:rPr>
              <a:t>identité, </a:t>
            </a:r>
            <a:r>
              <a:rPr lang="fr-FR" sz="2400" b="1" i="1" dirty="0">
                <a:latin typeface="Times New Roman" panose="02020603050405020304" pitchFamily="18" charset="0"/>
                <a:ea typeface="Times New Roman" panose="02020603050405020304" pitchFamily="18" charset="0"/>
              </a:rPr>
              <a:t>âge</a:t>
            </a:r>
            <a:endParaRPr lang="fr-FR" sz="2400" b="1" i="1" dirty="0">
              <a:effectLst/>
              <a:latin typeface="Times New Roman" panose="02020603050405020304" pitchFamily="18" charset="0"/>
              <a:ea typeface="Times New Roman" panose="02020603050405020304" pitchFamily="18" charset="0"/>
            </a:endParaRPr>
          </a:p>
          <a:p>
            <a:pPr marL="1143000" lvl="1" indent="-685800">
              <a:spcBef>
                <a:spcPts val="600"/>
              </a:spcBef>
              <a:buFont typeface="Wingdings" panose="05000000000000000000" pitchFamily="2" charset="2"/>
              <a:buChar char="ü"/>
            </a:pPr>
            <a:r>
              <a:rPr lang="fr-FR" sz="2400" b="1" i="1" dirty="0">
                <a:latin typeface="Times New Roman" panose="02020603050405020304" pitchFamily="18" charset="0"/>
                <a:ea typeface="Times New Roman" panose="02020603050405020304" pitchFamily="18" charset="0"/>
              </a:rPr>
              <a:t>parcours</a:t>
            </a:r>
          </a:p>
          <a:p>
            <a:pPr marL="1143000" lvl="1" indent="-685800">
              <a:spcBef>
                <a:spcPts val="600"/>
              </a:spcBef>
              <a:buFont typeface="Wingdings" panose="05000000000000000000" pitchFamily="2" charset="2"/>
              <a:buChar char="ü"/>
            </a:pPr>
            <a:r>
              <a:rPr lang="fr-FR" sz="2400" b="1" i="1" dirty="0">
                <a:latin typeface="Times New Roman" panose="02020603050405020304" pitchFamily="18" charset="0"/>
                <a:ea typeface="Times New Roman" panose="02020603050405020304" pitchFamily="18" charset="0"/>
              </a:rPr>
              <a:t>entreprise, projet</a:t>
            </a:r>
          </a:p>
          <a:p>
            <a:pPr marL="1143000" lvl="1" indent="-685800">
              <a:spcBef>
                <a:spcPts val="600"/>
              </a:spcBef>
              <a:buFont typeface="Wingdings" panose="05000000000000000000" pitchFamily="2" charset="2"/>
              <a:buChar char="ü"/>
            </a:pPr>
            <a:r>
              <a:rPr lang="fr-FR" sz="2400" b="1" i="1" dirty="0">
                <a:latin typeface="Times New Roman" panose="02020603050405020304" pitchFamily="18" charset="0"/>
                <a:ea typeface="Times New Roman" panose="02020603050405020304" pitchFamily="18" charset="0"/>
              </a:rPr>
              <a:t>rôle, poste, mission</a:t>
            </a:r>
          </a:p>
          <a:p>
            <a:pPr marL="1143000" lvl="1" indent="-685800">
              <a:spcBef>
                <a:spcPts val="600"/>
              </a:spcBef>
              <a:buFont typeface="Wingdings" panose="05000000000000000000" pitchFamily="2" charset="2"/>
              <a:buChar char="ü"/>
            </a:pPr>
            <a:r>
              <a:rPr lang="fr-FR" sz="2400" b="1" i="1" dirty="0">
                <a:latin typeface="Times New Roman" panose="02020603050405020304" pitchFamily="18" charset="0"/>
                <a:ea typeface="Times New Roman" panose="02020603050405020304" pitchFamily="18" charset="0"/>
              </a:rPr>
              <a:t>projet(s)</a:t>
            </a:r>
          </a:p>
          <a:p>
            <a:pPr marL="1143000" lvl="1" indent="-685800">
              <a:spcBef>
                <a:spcPts val="600"/>
              </a:spcBef>
              <a:buFont typeface="Wingdings" panose="05000000000000000000" pitchFamily="2" charset="2"/>
              <a:buChar char="ü"/>
            </a:pPr>
            <a:r>
              <a:rPr lang="fr-FR" sz="2400" b="1" i="1" dirty="0">
                <a:effectLst/>
                <a:latin typeface="Times New Roman" panose="02020603050405020304" pitchFamily="18" charset="0"/>
                <a:ea typeface="Times New Roman" panose="02020603050405020304" pitchFamily="18" charset="0"/>
              </a:rPr>
              <a:t>expériences gestion</a:t>
            </a:r>
          </a:p>
          <a:p>
            <a:pPr marL="1143000" lvl="1" indent="-685800">
              <a:spcBef>
                <a:spcPts val="600"/>
              </a:spcBef>
              <a:buFont typeface="Wingdings" panose="05000000000000000000" pitchFamily="2" charset="2"/>
              <a:buChar char="ü"/>
            </a:pPr>
            <a:r>
              <a:rPr lang="fr-FR" sz="2400" b="1" i="1" dirty="0">
                <a:effectLst/>
                <a:latin typeface="Times New Roman" panose="02020603050405020304" pitchFamily="18" charset="0"/>
                <a:ea typeface="Times New Roman" panose="02020603050405020304" pitchFamily="18" charset="0"/>
              </a:rPr>
              <a:t>divers (assos, perso,…)</a:t>
            </a:r>
          </a:p>
          <a:p>
            <a:pPr lvl="1" algn="ctr">
              <a:spcBef>
                <a:spcPts val="800"/>
              </a:spcBef>
            </a:pPr>
            <a:endParaRPr lang="fr-FR" sz="5400" b="1" i="1" dirty="0">
              <a:latin typeface="Times New Roman" panose="02020603050405020304" pitchFamily="18" charset="0"/>
              <a:ea typeface="Times New Roman" panose="02020603050405020304" pitchFamily="18" charset="0"/>
            </a:endParaRPr>
          </a:p>
          <a:p>
            <a:pPr lvl="1" algn="ctr">
              <a:spcBef>
                <a:spcPts val="800"/>
              </a:spcBef>
            </a:pPr>
            <a:endParaRPr lang="fr-FR" sz="6000" dirty="0">
              <a:effectLst/>
              <a:latin typeface="Times New Roman" panose="02020603050405020304" pitchFamily="18" charset="0"/>
              <a:ea typeface="Times New Roman" panose="02020603050405020304" pitchFamily="18" charset="0"/>
            </a:endParaRPr>
          </a:p>
        </p:txBody>
      </p:sp>
      <p:sp>
        <p:nvSpPr>
          <p:cNvPr id="7" name="ZoneTexte 6">
            <a:extLst>
              <a:ext uri="{FF2B5EF4-FFF2-40B4-BE49-F238E27FC236}">
                <a16:creationId xmlns:a16="http://schemas.microsoft.com/office/drawing/2014/main" id="{CB6DBA5F-B2FC-785E-B0CD-02AD39A5ACCD}"/>
              </a:ext>
            </a:extLst>
          </p:cNvPr>
          <p:cNvSpPr txBox="1"/>
          <p:nvPr/>
        </p:nvSpPr>
        <p:spPr>
          <a:xfrm>
            <a:off x="4501241" y="1936283"/>
            <a:ext cx="5040087" cy="4001095"/>
          </a:xfrm>
          <a:prstGeom prst="rect">
            <a:avLst/>
          </a:prstGeom>
          <a:noFill/>
        </p:spPr>
        <p:txBody>
          <a:bodyPr wrap="square" rtlCol="0">
            <a:spAutoFit/>
          </a:bodyPr>
          <a:lstStyle/>
          <a:p>
            <a:pPr marL="892175" lvl="4" indent="-457200">
              <a:spcBef>
                <a:spcPts val="600"/>
              </a:spcBef>
              <a:buFont typeface="Wingdings" panose="05000000000000000000" pitchFamily="2" charset="2"/>
              <a:buChar char="Ø"/>
            </a:pPr>
            <a:r>
              <a:rPr lang="fr-FR" sz="2800" dirty="0"/>
              <a:t>Gestion, finances, compta, budget, coûts,…</a:t>
            </a:r>
          </a:p>
          <a:p>
            <a:pPr marL="892175" lvl="4" indent="-457200">
              <a:spcBef>
                <a:spcPts val="600"/>
              </a:spcBef>
              <a:buFont typeface="Wingdings" panose="05000000000000000000" pitchFamily="2" charset="2"/>
              <a:buChar char="Ø"/>
            </a:pPr>
            <a:r>
              <a:rPr lang="fr-FR" sz="2800" dirty="0"/>
              <a:t>Notions de Processus</a:t>
            </a:r>
          </a:p>
          <a:p>
            <a:pPr marL="892175" lvl="4" indent="-457200">
              <a:spcBef>
                <a:spcPts val="600"/>
              </a:spcBef>
              <a:buFont typeface="Wingdings" panose="05000000000000000000" pitchFamily="2" charset="2"/>
              <a:buChar char="Ø"/>
            </a:pPr>
            <a:r>
              <a:rPr lang="fr-FR" sz="2800" dirty="0"/>
              <a:t>Gestion de Projet</a:t>
            </a:r>
          </a:p>
          <a:p>
            <a:pPr marL="892175" lvl="4" indent="-457200">
              <a:spcBef>
                <a:spcPts val="600"/>
              </a:spcBef>
              <a:buFont typeface="Wingdings" panose="05000000000000000000" pitchFamily="2" charset="2"/>
              <a:buChar char="Ø"/>
            </a:pPr>
            <a:r>
              <a:rPr lang="fr-FR" sz="2800" dirty="0"/>
              <a:t>Outil de Gestion Budget</a:t>
            </a:r>
          </a:p>
          <a:p>
            <a:pPr marL="892175" lvl="4" indent="-457200">
              <a:spcBef>
                <a:spcPts val="600"/>
              </a:spcBef>
              <a:buFont typeface="Wingdings" panose="05000000000000000000" pitchFamily="2" charset="2"/>
              <a:buChar char="Ø"/>
            </a:pPr>
            <a:r>
              <a:rPr lang="fr-FR" sz="2800" dirty="0"/>
              <a:t>Gestion des Risques </a:t>
            </a:r>
          </a:p>
          <a:p>
            <a:pPr marL="892175" lvl="4" indent="-457200">
              <a:spcBef>
                <a:spcPts val="600"/>
              </a:spcBef>
              <a:buFont typeface="Wingdings" panose="05000000000000000000" pitchFamily="2" charset="2"/>
              <a:buChar char="Ø"/>
            </a:pPr>
            <a:r>
              <a:rPr lang="fr-FR" sz="2800" dirty="0"/>
              <a:t>Gouvernance d'entreprise</a:t>
            </a:r>
          </a:p>
          <a:p>
            <a:pPr marL="434975" lvl="4">
              <a:spcBef>
                <a:spcPts val="600"/>
              </a:spcBef>
            </a:pPr>
            <a:r>
              <a:rPr lang="fr-FR" sz="2800" i="1" dirty="0">
                <a:latin typeface="Times New Roman" panose="02020603050405020304" pitchFamily="18" charset="0"/>
                <a:ea typeface="Times New Roman" panose="02020603050405020304" pitchFamily="18" charset="0"/>
              </a:rPr>
              <a:t> </a:t>
            </a:r>
            <a:endParaRPr lang="fr-FR" sz="5400" i="1"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0729283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EE9E5-2AAF-33A3-3AF9-5A866A077F8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7C34673-37E5-FF2D-8DEE-3F5FF1127E0A}"/>
              </a:ext>
            </a:extLst>
          </p:cNvPr>
          <p:cNvSpPr>
            <a:spLocks noGrp="1"/>
          </p:cNvSpPr>
          <p:nvPr>
            <p:ph type="title"/>
          </p:nvPr>
        </p:nvSpPr>
        <p:spPr/>
        <p:txBody>
          <a:bodyPr/>
          <a:lstStyle/>
          <a:p>
            <a:r>
              <a:rPr lang="fr-FR" b="1" dirty="0"/>
              <a:t>Plan du Module : 1/5</a:t>
            </a:r>
          </a:p>
        </p:txBody>
      </p:sp>
      <p:sp>
        <p:nvSpPr>
          <p:cNvPr id="3" name="ZoneTexte 2">
            <a:extLst>
              <a:ext uri="{FF2B5EF4-FFF2-40B4-BE49-F238E27FC236}">
                <a16:creationId xmlns:a16="http://schemas.microsoft.com/office/drawing/2014/main" id="{C7496537-5ADE-7B4C-7621-C107F2019D96}"/>
              </a:ext>
            </a:extLst>
          </p:cNvPr>
          <p:cNvSpPr txBox="1"/>
          <p:nvPr/>
        </p:nvSpPr>
        <p:spPr>
          <a:xfrm>
            <a:off x="687977" y="1713145"/>
            <a:ext cx="9035143" cy="3877985"/>
          </a:xfrm>
          <a:prstGeom prst="rect">
            <a:avLst/>
          </a:prstGeom>
          <a:noFill/>
        </p:spPr>
        <p:txBody>
          <a:bodyPr wrap="square" rtlCol="0">
            <a:spAutoFit/>
          </a:bodyPr>
          <a:lstStyle/>
          <a:p>
            <a:pPr>
              <a:spcAft>
                <a:spcPts val="600"/>
              </a:spcAft>
            </a:pPr>
            <a:r>
              <a:rPr lang="fr-FR" sz="2400" b="1" dirty="0"/>
              <a:t>Chapitre 1 : Outils de suivi budgétaire</a:t>
            </a:r>
          </a:p>
          <a:p>
            <a:pPr marL="800100" lvl="1" indent="-342900">
              <a:spcAft>
                <a:spcPts val="600"/>
              </a:spcAft>
              <a:buFont typeface="+mj-lt"/>
              <a:buAutoNum type="arabicPeriod"/>
            </a:pPr>
            <a:r>
              <a:rPr lang="fr-FR" sz="2400" dirty="0"/>
              <a:t>Les </a:t>
            </a:r>
            <a:r>
              <a:rPr lang="fr-FR" sz="2400" u="sng" dirty="0"/>
              <a:t>différents</a:t>
            </a:r>
            <a:r>
              <a:rPr lang="fr-FR" sz="2400" dirty="0"/>
              <a:t> outils de suivi </a:t>
            </a:r>
            <a:r>
              <a:rPr lang="fr-FR" sz="2400" u="sng" dirty="0"/>
              <a:t>budgétaire</a:t>
            </a:r>
            <a:r>
              <a:rPr lang="fr-FR" sz="2400" dirty="0"/>
              <a:t> disponibles</a:t>
            </a:r>
          </a:p>
          <a:p>
            <a:pPr marL="800100" lvl="1" indent="-342900">
              <a:spcAft>
                <a:spcPts val="600"/>
              </a:spcAft>
              <a:buFont typeface="+mj-lt"/>
              <a:buAutoNum type="arabicPeriod"/>
            </a:pPr>
            <a:r>
              <a:rPr lang="fr-FR" sz="2400" dirty="0"/>
              <a:t>Les critères de </a:t>
            </a:r>
            <a:r>
              <a:rPr lang="fr-FR" sz="2400" u="sng" dirty="0"/>
              <a:t>choix</a:t>
            </a:r>
            <a:r>
              <a:rPr lang="fr-FR" sz="2400" dirty="0"/>
              <a:t> d'un outil de suivi budgétaire</a:t>
            </a:r>
          </a:p>
          <a:p>
            <a:pPr marL="800100" lvl="1" indent="-342900">
              <a:spcAft>
                <a:spcPts val="600"/>
              </a:spcAft>
              <a:buFont typeface="+mj-lt"/>
              <a:buAutoNum type="arabicPeriod"/>
            </a:pPr>
            <a:r>
              <a:rPr lang="fr-FR" sz="2400" dirty="0"/>
              <a:t>La mise en place d'un outil de suivi budgétaire </a:t>
            </a:r>
            <a:r>
              <a:rPr lang="fr-FR" sz="2400" u="sng" dirty="0"/>
              <a:t>adapté</a:t>
            </a:r>
            <a:r>
              <a:rPr lang="fr-FR" sz="2400" dirty="0"/>
              <a:t> au projet</a:t>
            </a:r>
          </a:p>
          <a:p>
            <a:pPr marL="800100" lvl="1" indent="-342900">
              <a:spcAft>
                <a:spcPts val="600"/>
              </a:spcAft>
              <a:buFont typeface="+mj-lt"/>
              <a:buAutoNum type="arabicPeriod"/>
            </a:pPr>
            <a:r>
              <a:rPr lang="fr-FR" sz="2400" dirty="0"/>
              <a:t>L'importance de </a:t>
            </a:r>
            <a:r>
              <a:rPr lang="fr-FR" sz="2400" u="sng" dirty="0"/>
              <a:t>l'intégration</a:t>
            </a:r>
            <a:r>
              <a:rPr lang="fr-FR" sz="2400" dirty="0"/>
              <a:t> des outils de suivi budgétaire dans la gestion de projet</a:t>
            </a:r>
          </a:p>
          <a:p>
            <a:pPr marL="800100" lvl="1" indent="-342900">
              <a:spcAft>
                <a:spcPts val="600"/>
              </a:spcAft>
              <a:buFont typeface="+mj-lt"/>
              <a:buAutoNum type="arabicPeriod"/>
            </a:pPr>
            <a:r>
              <a:rPr lang="fr-FR" sz="2400" dirty="0"/>
              <a:t>Les </a:t>
            </a:r>
            <a:r>
              <a:rPr lang="fr-FR" sz="2400" u="sng" dirty="0"/>
              <a:t>bonnes pratiques</a:t>
            </a:r>
            <a:r>
              <a:rPr lang="fr-FR" sz="2400" dirty="0"/>
              <a:t> pour l'utilisation des outils de suivi budgétaire</a:t>
            </a:r>
          </a:p>
          <a:p>
            <a:pPr lvl="1">
              <a:spcAft>
                <a:spcPts val="600"/>
              </a:spcAft>
            </a:pPr>
            <a:r>
              <a:rPr lang="fr-FR" sz="2400" dirty="0"/>
              <a:t> </a:t>
            </a:r>
          </a:p>
        </p:txBody>
      </p:sp>
    </p:spTree>
    <p:extLst>
      <p:ext uri="{BB962C8B-B14F-4D97-AF65-F5344CB8AC3E}">
        <p14:creationId xmlns:p14="http://schemas.microsoft.com/office/powerpoint/2010/main" val="365688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CB06A-842A-043E-CE69-7B7BA28C86E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532CCCE-D30C-97C5-3A66-7ECFFBD7E357}"/>
              </a:ext>
            </a:extLst>
          </p:cNvPr>
          <p:cNvSpPr>
            <a:spLocks noGrp="1"/>
          </p:cNvSpPr>
          <p:nvPr>
            <p:ph type="title"/>
          </p:nvPr>
        </p:nvSpPr>
        <p:spPr/>
        <p:txBody>
          <a:bodyPr/>
          <a:lstStyle/>
          <a:p>
            <a:r>
              <a:rPr lang="fr-FR" b="1" dirty="0"/>
              <a:t>Plan du Module : 2/5</a:t>
            </a:r>
          </a:p>
        </p:txBody>
      </p:sp>
      <p:sp>
        <p:nvSpPr>
          <p:cNvPr id="3" name="ZoneTexte 2">
            <a:extLst>
              <a:ext uri="{FF2B5EF4-FFF2-40B4-BE49-F238E27FC236}">
                <a16:creationId xmlns:a16="http://schemas.microsoft.com/office/drawing/2014/main" id="{4AA46FDA-942C-DF50-5AAB-FEADF464936A}"/>
              </a:ext>
            </a:extLst>
          </p:cNvPr>
          <p:cNvSpPr txBox="1"/>
          <p:nvPr/>
        </p:nvSpPr>
        <p:spPr>
          <a:xfrm>
            <a:off x="435428" y="1460930"/>
            <a:ext cx="9035143" cy="3585597"/>
          </a:xfrm>
          <a:prstGeom prst="rect">
            <a:avLst/>
          </a:prstGeom>
          <a:noFill/>
        </p:spPr>
        <p:txBody>
          <a:bodyPr wrap="square" rtlCol="0">
            <a:spAutoFit/>
          </a:bodyPr>
          <a:lstStyle/>
          <a:p>
            <a:pPr>
              <a:spcAft>
                <a:spcPts val="600"/>
              </a:spcAft>
            </a:pPr>
            <a:endParaRPr lang="fr-FR" sz="2400" dirty="0"/>
          </a:p>
          <a:p>
            <a:pPr>
              <a:spcAft>
                <a:spcPts val="600"/>
              </a:spcAft>
            </a:pPr>
            <a:r>
              <a:rPr lang="fr-FR" sz="2400" b="1" dirty="0"/>
              <a:t>Chapitre 2 : Gestion des coûts</a:t>
            </a:r>
          </a:p>
          <a:p>
            <a:pPr marL="800100" lvl="1" indent="-342900">
              <a:spcAft>
                <a:spcPts val="600"/>
              </a:spcAft>
              <a:buFont typeface="+mj-lt"/>
              <a:buAutoNum type="arabicPeriod"/>
            </a:pPr>
            <a:r>
              <a:rPr lang="fr-FR" sz="2400" dirty="0"/>
              <a:t>La différence entre coûts </a:t>
            </a:r>
            <a:r>
              <a:rPr lang="fr-FR" sz="2400" u="sng" dirty="0"/>
              <a:t>directs</a:t>
            </a:r>
            <a:r>
              <a:rPr lang="fr-FR" sz="2400" dirty="0"/>
              <a:t> et coûts </a:t>
            </a:r>
            <a:r>
              <a:rPr lang="fr-FR" sz="2400" u="sng" dirty="0"/>
              <a:t>indirects</a:t>
            </a:r>
          </a:p>
          <a:p>
            <a:pPr marL="800100" lvl="1" indent="-342900">
              <a:spcAft>
                <a:spcPts val="600"/>
              </a:spcAft>
              <a:buFont typeface="+mj-lt"/>
              <a:buAutoNum type="arabicPeriod"/>
            </a:pPr>
            <a:r>
              <a:rPr lang="fr-FR" sz="2400" dirty="0"/>
              <a:t>Les méthodes de </a:t>
            </a:r>
            <a:r>
              <a:rPr lang="fr-FR" sz="2400" u="sng" dirty="0"/>
              <a:t>prévision</a:t>
            </a:r>
            <a:r>
              <a:rPr lang="fr-FR" sz="2400" dirty="0"/>
              <a:t> et de </a:t>
            </a:r>
            <a:r>
              <a:rPr lang="fr-FR" sz="2400" u="sng" dirty="0"/>
              <a:t>suivi</a:t>
            </a:r>
            <a:r>
              <a:rPr lang="fr-FR" sz="2400" dirty="0"/>
              <a:t> des coûts</a:t>
            </a:r>
          </a:p>
          <a:p>
            <a:pPr marL="800100" lvl="1" indent="-342900">
              <a:spcAft>
                <a:spcPts val="600"/>
              </a:spcAft>
              <a:buFont typeface="+mj-lt"/>
              <a:buAutoNum type="arabicPeriod"/>
            </a:pPr>
            <a:r>
              <a:rPr lang="fr-FR" sz="2400" dirty="0"/>
              <a:t>L'analyse des </a:t>
            </a:r>
            <a:r>
              <a:rPr lang="fr-FR" sz="2400" u="sng" dirty="0"/>
              <a:t>écarts</a:t>
            </a:r>
            <a:r>
              <a:rPr lang="fr-FR" sz="2400" dirty="0"/>
              <a:t> de coûts</a:t>
            </a:r>
          </a:p>
          <a:p>
            <a:pPr marL="800100" lvl="1" indent="-342900">
              <a:spcAft>
                <a:spcPts val="600"/>
              </a:spcAft>
              <a:buFont typeface="+mj-lt"/>
              <a:buAutoNum type="arabicPeriod"/>
            </a:pPr>
            <a:r>
              <a:rPr lang="fr-FR" sz="2400" dirty="0"/>
              <a:t>Les </a:t>
            </a:r>
            <a:r>
              <a:rPr lang="fr-FR" sz="2400" u="sng" dirty="0"/>
              <a:t>actions</a:t>
            </a:r>
            <a:r>
              <a:rPr lang="fr-FR" sz="2400" dirty="0"/>
              <a:t> correctives en cas d'écarts </a:t>
            </a:r>
            <a:r>
              <a:rPr lang="fr-FR" sz="2400" u="sng" dirty="0"/>
              <a:t>importants</a:t>
            </a:r>
          </a:p>
          <a:p>
            <a:pPr marL="800100" lvl="1" indent="-342900">
              <a:spcAft>
                <a:spcPts val="600"/>
              </a:spcAft>
              <a:buFont typeface="+mj-lt"/>
              <a:buAutoNum type="arabicPeriod"/>
            </a:pPr>
            <a:r>
              <a:rPr lang="fr-FR" sz="2400" u="sng" dirty="0"/>
              <a:t>L'optimisation</a:t>
            </a:r>
            <a:r>
              <a:rPr lang="fr-FR" sz="2400" dirty="0"/>
              <a:t> des coûts sans compromettre la qualité du projet</a:t>
            </a:r>
          </a:p>
          <a:p>
            <a:pPr lvl="1">
              <a:spcAft>
                <a:spcPts val="600"/>
              </a:spcAft>
            </a:pPr>
            <a:r>
              <a:rPr lang="fr-FR" sz="2400" dirty="0"/>
              <a:t> </a:t>
            </a:r>
          </a:p>
        </p:txBody>
      </p:sp>
    </p:spTree>
    <p:extLst>
      <p:ext uri="{BB962C8B-B14F-4D97-AF65-F5344CB8AC3E}">
        <p14:creationId xmlns:p14="http://schemas.microsoft.com/office/powerpoint/2010/main" val="47778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11956-5DCE-A55C-3E2A-70E888588AE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F777EF1-119F-C91B-32A6-E586B04F6773}"/>
              </a:ext>
            </a:extLst>
          </p:cNvPr>
          <p:cNvSpPr>
            <a:spLocks noGrp="1"/>
          </p:cNvSpPr>
          <p:nvPr>
            <p:ph type="title"/>
          </p:nvPr>
        </p:nvSpPr>
        <p:spPr/>
        <p:txBody>
          <a:bodyPr/>
          <a:lstStyle/>
          <a:p>
            <a:r>
              <a:rPr lang="fr-FR" b="1" dirty="0"/>
              <a:t>Plan du Module : 3/5</a:t>
            </a:r>
          </a:p>
        </p:txBody>
      </p:sp>
      <p:sp>
        <p:nvSpPr>
          <p:cNvPr id="3" name="ZoneTexte 2">
            <a:extLst>
              <a:ext uri="{FF2B5EF4-FFF2-40B4-BE49-F238E27FC236}">
                <a16:creationId xmlns:a16="http://schemas.microsoft.com/office/drawing/2014/main" id="{616F1436-EC2B-0477-EC02-B5E7C53C142A}"/>
              </a:ext>
            </a:extLst>
          </p:cNvPr>
          <p:cNvSpPr txBox="1"/>
          <p:nvPr/>
        </p:nvSpPr>
        <p:spPr>
          <a:xfrm>
            <a:off x="627017" y="1506650"/>
            <a:ext cx="9035143" cy="4616648"/>
          </a:xfrm>
          <a:prstGeom prst="rect">
            <a:avLst/>
          </a:prstGeom>
          <a:noFill/>
        </p:spPr>
        <p:txBody>
          <a:bodyPr wrap="square" rtlCol="0">
            <a:spAutoFit/>
          </a:bodyPr>
          <a:lstStyle/>
          <a:p>
            <a:pPr>
              <a:spcAft>
                <a:spcPts val="600"/>
              </a:spcAft>
            </a:pPr>
            <a:r>
              <a:rPr lang="fr-FR" sz="2400" b="1" dirty="0"/>
              <a:t>Chapitre 3 : Suivi continu des indicateurs de performance</a:t>
            </a:r>
          </a:p>
          <a:p>
            <a:pPr marL="800100" lvl="1" indent="-342900">
              <a:spcAft>
                <a:spcPts val="600"/>
              </a:spcAft>
              <a:buFont typeface="+mj-lt"/>
              <a:buAutoNum type="arabicPeriod"/>
            </a:pPr>
            <a:r>
              <a:rPr lang="fr-FR" sz="2400" dirty="0"/>
              <a:t>Les principaux </a:t>
            </a:r>
            <a:r>
              <a:rPr lang="fr-FR" sz="2400" u="sng" dirty="0"/>
              <a:t>indicateurs</a:t>
            </a:r>
            <a:r>
              <a:rPr lang="fr-FR" sz="2400" dirty="0"/>
              <a:t> de performance liés à la gestion financière</a:t>
            </a:r>
          </a:p>
          <a:p>
            <a:pPr marL="800100" lvl="1" indent="-342900">
              <a:spcAft>
                <a:spcPts val="600"/>
              </a:spcAft>
              <a:buFont typeface="+mj-lt"/>
              <a:buAutoNum type="arabicPeriod"/>
            </a:pPr>
            <a:r>
              <a:rPr lang="fr-FR" sz="2400" dirty="0"/>
              <a:t>La mise en place de </a:t>
            </a:r>
            <a:r>
              <a:rPr lang="fr-FR" sz="2400" u="sng" dirty="0"/>
              <a:t>tableaux de bord</a:t>
            </a:r>
            <a:r>
              <a:rPr lang="fr-FR" sz="2400" dirty="0"/>
              <a:t> de suivi de la performance financière</a:t>
            </a:r>
          </a:p>
          <a:p>
            <a:pPr marL="800100" lvl="1" indent="-342900">
              <a:spcAft>
                <a:spcPts val="600"/>
              </a:spcAft>
              <a:buFont typeface="+mj-lt"/>
              <a:buAutoNum type="arabicPeriod"/>
            </a:pPr>
            <a:r>
              <a:rPr lang="fr-FR" sz="2400" u="sng" dirty="0"/>
              <a:t>L'interprétation</a:t>
            </a:r>
            <a:r>
              <a:rPr lang="fr-FR" sz="2400" dirty="0"/>
              <a:t> des indicateurs de </a:t>
            </a:r>
            <a:r>
              <a:rPr lang="fr-FR" sz="2400" u="sng" dirty="0"/>
              <a:t>performance</a:t>
            </a:r>
            <a:r>
              <a:rPr lang="fr-FR" sz="2400" dirty="0"/>
              <a:t> financière</a:t>
            </a:r>
          </a:p>
          <a:p>
            <a:pPr marL="800100" lvl="1" indent="-342900">
              <a:spcAft>
                <a:spcPts val="600"/>
              </a:spcAft>
              <a:buFont typeface="+mj-lt"/>
              <a:buAutoNum type="arabicPeriod"/>
            </a:pPr>
            <a:r>
              <a:rPr lang="fr-FR" sz="2400" dirty="0"/>
              <a:t>L'articulation entre les </a:t>
            </a:r>
            <a:r>
              <a:rPr lang="fr-FR" sz="2400" u="sng" dirty="0"/>
              <a:t>indicateurs</a:t>
            </a:r>
            <a:r>
              <a:rPr lang="fr-FR" sz="2400" dirty="0"/>
              <a:t> de performance financière et les </a:t>
            </a:r>
            <a:r>
              <a:rPr lang="fr-FR" sz="2400" u="sng" dirty="0"/>
              <a:t>décisions</a:t>
            </a:r>
            <a:r>
              <a:rPr lang="fr-FR" sz="2400" dirty="0"/>
              <a:t> de gestion</a:t>
            </a:r>
          </a:p>
          <a:p>
            <a:pPr marL="800100" lvl="1" indent="-342900">
              <a:spcAft>
                <a:spcPts val="600"/>
              </a:spcAft>
              <a:buFont typeface="+mj-lt"/>
              <a:buAutoNum type="arabicPeriod"/>
            </a:pPr>
            <a:r>
              <a:rPr lang="fr-FR" sz="2400" dirty="0"/>
              <a:t>L'adaptation des actions en fonction des indicateurs de performance financière</a:t>
            </a:r>
          </a:p>
          <a:p>
            <a:pPr lvl="1">
              <a:spcAft>
                <a:spcPts val="600"/>
              </a:spcAft>
            </a:pPr>
            <a:r>
              <a:rPr lang="fr-FR" sz="2400" dirty="0"/>
              <a:t> </a:t>
            </a:r>
          </a:p>
        </p:txBody>
      </p:sp>
    </p:spTree>
    <p:extLst>
      <p:ext uri="{BB962C8B-B14F-4D97-AF65-F5344CB8AC3E}">
        <p14:creationId xmlns:p14="http://schemas.microsoft.com/office/powerpoint/2010/main" val="3475238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DE0C3-0121-23B7-457B-8FF42CEB006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FB3C532-52DD-5B13-4283-FDF61234B51D}"/>
              </a:ext>
            </a:extLst>
          </p:cNvPr>
          <p:cNvSpPr>
            <a:spLocks noGrp="1"/>
          </p:cNvSpPr>
          <p:nvPr>
            <p:ph type="title"/>
          </p:nvPr>
        </p:nvSpPr>
        <p:spPr/>
        <p:txBody>
          <a:bodyPr/>
          <a:lstStyle/>
          <a:p>
            <a:r>
              <a:rPr lang="fr-FR" b="1" dirty="0"/>
              <a:t>Plan du Module : 4/5</a:t>
            </a:r>
          </a:p>
        </p:txBody>
      </p:sp>
      <p:sp>
        <p:nvSpPr>
          <p:cNvPr id="3" name="ZoneTexte 2">
            <a:extLst>
              <a:ext uri="{FF2B5EF4-FFF2-40B4-BE49-F238E27FC236}">
                <a16:creationId xmlns:a16="http://schemas.microsoft.com/office/drawing/2014/main" id="{81A409F7-459D-495C-B992-4FB658093A4C}"/>
              </a:ext>
            </a:extLst>
          </p:cNvPr>
          <p:cNvSpPr txBox="1"/>
          <p:nvPr/>
        </p:nvSpPr>
        <p:spPr>
          <a:xfrm>
            <a:off x="672737" y="1528479"/>
            <a:ext cx="9035143" cy="4247317"/>
          </a:xfrm>
          <a:prstGeom prst="rect">
            <a:avLst/>
          </a:prstGeom>
          <a:noFill/>
        </p:spPr>
        <p:txBody>
          <a:bodyPr wrap="square" rtlCol="0">
            <a:spAutoFit/>
          </a:bodyPr>
          <a:lstStyle/>
          <a:p>
            <a:pPr>
              <a:spcAft>
                <a:spcPts val="600"/>
              </a:spcAft>
            </a:pPr>
            <a:r>
              <a:rPr lang="fr-FR" sz="2400" b="1" dirty="0"/>
              <a:t>Chapitre 4 : Gestion proactive du projet</a:t>
            </a:r>
          </a:p>
          <a:p>
            <a:pPr marL="800100" lvl="1" indent="-342900">
              <a:spcAft>
                <a:spcPts val="600"/>
              </a:spcAft>
              <a:buFont typeface="+mj-lt"/>
              <a:buAutoNum type="arabicPeriod"/>
            </a:pPr>
            <a:r>
              <a:rPr lang="fr-FR" sz="2400" dirty="0"/>
              <a:t>L'anticipation des </a:t>
            </a:r>
            <a:r>
              <a:rPr lang="fr-FR" sz="2400" u="sng" dirty="0"/>
              <a:t>risques</a:t>
            </a:r>
            <a:r>
              <a:rPr lang="fr-FR" sz="2400" dirty="0"/>
              <a:t> financiers</a:t>
            </a:r>
          </a:p>
          <a:p>
            <a:pPr marL="800100" lvl="1" indent="-342900">
              <a:spcAft>
                <a:spcPts val="600"/>
              </a:spcAft>
              <a:buFont typeface="+mj-lt"/>
              <a:buAutoNum type="arabicPeriod"/>
            </a:pPr>
            <a:r>
              <a:rPr lang="fr-FR" sz="2400" dirty="0"/>
              <a:t>La </a:t>
            </a:r>
            <a:r>
              <a:rPr lang="fr-FR" sz="2400" u="sng" dirty="0"/>
              <a:t>planification</a:t>
            </a:r>
            <a:r>
              <a:rPr lang="fr-FR" sz="2400" dirty="0"/>
              <a:t> des actions en cas de variations budgétaires importantes</a:t>
            </a:r>
          </a:p>
          <a:p>
            <a:pPr marL="800100" lvl="1" indent="-342900">
              <a:spcAft>
                <a:spcPts val="600"/>
              </a:spcAft>
              <a:buFont typeface="+mj-lt"/>
              <a:buAutoNum type="arabicPeriod"/>
            </a:pPr>
            <a:r>
              <a:rPr lang="fr-FR" sz="2400" dirty="0"/>
              <a:t>La </a:t>
            </a:r>
            <a:r>
              <a:rPr lang="fr-FR" sz="2400" u="sng" dirty="0"/>
              <a:t>communication</a:t>
            </a:r>
            <a:r>
              <a:rPr lang="fr-FR" sz="2400" dirty="0"/>
              <a:t> des informations financières aux parties prenantes</a:t>
            </a:r>
          </a:p>
          <a:p>
            <a:pPr marL="800100" lvl="1" indent="-342900">
              <a:spcAft>
                <a:spcPts val="600"/>
              </a:spcAft>
              <a:buFont typeface="+mj-lt"/>
              <a:buAutoNum type="arabicPeriod"/>
            </a:pPr>
            <a:r>
              <a:rPr lang="fr-FR" sz="2400" dirty="0"/>
              <a:t>L'alignement des décisions de gestion sur les </a:t>
            </a:r>
            <a:r>
              <a:rPr lang="fr-FR" sz="2400" u="sng" dirty="0"/>
              <a:t>objectifs</a:t>
            </a:r>
            <a:r>
              <a:rPr lang="fr-FR" sz="2400" dirty="0"/>
              <a:t> financiers du projet</a:t>
            </a:r>
          </a:p>
          <a:p>
            <a:pPr marL="800100" lvl="1" indent="-342900">
              <a:spcAft>
                <a:spcPts val="600"/>
              </a:spcAft>
              <a:buFont typeface="+mj-lt"/>
              <a:buAutoNum type="arabicPeriod"/>
            </a:pPr>
            <a:r>
              <a:rPr lang="fr-FR" sz="2400" dirty="0"/>
              <a:t>L'implication des équipes dans la gestion proactive des coûts</a:t>
            </a:r>
          </a:p>
          <a:p>
            <a:pPr lvl="1">
              <a:spcAft>
                <a:spcPts val="600"/>
              </a:spcAft>
            </a:pPr>
            <a:r>
              <a:rPr lang="fr-FR" sz="2400" dirty="0"/>
              <a:t> </a:t>
            </a:r>
          </a:p>
        </p:txBody>
      </p:sp>
    </p:spTree>
    <p:extLst>
      <p:ext uri="{BB962C8B-B14F-4D97-AF65-F5344CB8AC3E}">
        <p14:creationId xmlns:p14="http://schemas.microsoft.com/office/powerpoint/2010/main" val="3985851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4108D-4F09-CE7C-D206-C23ACDB9E06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C450C57-DBB2-5654-554F-AFCDF012D3B6}"/>
              </a:ext>
            </a:extLst>
          </p:cNvPr>
          <p:cNvSpPr>
            <a:spLocks noGrp="1"/>
          </p:cNvSpPr>
          <p:nvPr>
            <p:ph type="title"/>
          </p:nvPr>
        </p:nvSpPr>
        <p:spPr/>
        <p:txBody>
          <a:bodyPr/>
          <a:lstStyle/>
          <a:p>
            <a:r>
              <a:rPr lang="fr-FR" b="1" dirty="0"/>
              <a:t>Plan du Module : 5/5</a:t>
            </a:r>
          </a:p>
        </p:txBody>
      </p:sp>
      <p:sp>
        <p:nvSpPr>
          <p:cNvPr id="3" name="ZoneTexte 2">
            <a:extLst>
              <a:ext uri="{FF2B5EF4-FFF2-40B4-BE49-F238E27FC236}">
                <a16:creationId xmlns:a16="http://schemas.microsoft.com/office/drawing/2014/main" id="{33882393-9AEC-57A8-B0E9-5DB233481C92}"/>
              </a:ext>
            </a:extLst>
          </p:cNvPr>
          <p:cNvSpPr txBox="1"/>
          <p:nvPr/>
        </p:nvSpPr>
        <p:spPr>
          <a:xfrm>
            <a:off x="566057" y="1528479"/>
            <a:ext cx="9035143" cy="4247317"/>
          </a:xfrm>
          <a:prstGeom prst="rect">
            <a:avLst/>
          </a:prstGeom>
          <a:noFill/>
        </p:spPr>
        <p:txBody>
          <a:bodyPr wrap="square" rtlCol="0">
            <a:spAutoFit/>
          </a:bodyPr>
          <a:lstStyle/>
          <a:p>
            <a:pPr>
              <a:spcAft>
                <a:spcPts val="600"/>
              </a:spcAft>
            </a:pPr>
            <a:r>
              <a:rPr lang="fr-FR" sz="2400" b="1" dirty="0"/>
              <a:t>Chapitre 5 : Amélioration continue de la gestion financière</a:t>
            </a:r>
          </a:p>
          <a:p>
            <a:pPr marL="800100" lvl="1" indent="-342900">
              <a:spcAft>
                <a:spcPts val="600"/>
              </a:spcAft>
              <a:buFont typeface="+mj-lt"/>
              <a:buAutoNum type="arabicPeriod"/>
            </a:pPr>
            <a:r>
              <a:rPr lang="fr-FR" sz="2400" dirty="0"/>
              <a:t>L'analyse des </a:t>
            </a:r>
            <a:r>
              <a:rPr lang="fr-FR" sz="2400" u="sng" dirty="0"/>
              <a:t>retours d'expérience</a:t>
            </a:r>
            <a:r>
              <a:rPr lang="fr-FR" sz="2400" dirty="0"/>
              <a:t> pour améliorer la gestion financière</a:t>
            </a:r>
          </a:p>
          <a:p>
            <a:pPr marL="800100" lvl="1" indent="-342900">
              <a:spcAft>
                <a:spcPts val="600"/>
              </a:spcAft>
              <a:buFont typeface="+mj-lt"/>
              <a:buAutoNum type="arabicPeriod"/>
            </a:pPr>
            <a:r>
              <a:rPr lang="fr-FR" sz="2400" dirty="0"/>
              <a:t>L'adaptation des </a:t>
            </a:r>
            <a:r>
              <a:rPr lang="fr-FR" sz="2400" u="sng" dirty="0"/>
              <a:t>pratiques</a:t>
            </a:r>
            <a:r>
              <a:rPr lang="fr-FR" sz="2400" dirty="0"/>
              <a:t> de gestion financière en fonction des enseignements tirés</a:t>
            </a:r>
          </a:p>
          <a:p>
            <a:pPr marL="800100" lvl="1" indent="-342900">
              <a:spcAft>
                <a:spcPts val="600"/>
              </a:spcAft>
              <a:buFont typeface="+mj-lt"/>
              <a:buAutoNum type="arabicPeriod"/>
            </a:pPr>
            <a:r>
              <a:rPr lang="fr-FR" sz="2400" dirty="0"/>
              <a:t>La </a:t>
            </a:r>
            <a:r>
              <a:rPr lang="fr-FR" sz="2400" u="sng" dirty="0"/>
              <a:t>capitalisation</a:t>
            </a:r>
            <a:r>
              <a:rPr lang="fr-FR" sz="2400" dirty="0"/>
              <a:t> des bonnes pratiques en gestion financière</a:t>
            </a:r>
          </a:p>
          <a:p>
            <a:pPr marL="800100" lvl="1" indent="-342900">
              <a:spcAft>
                <a:spcPts val="600"/>
              </a:spcAft>
              <a:buFont typeface="+mj-lt"/>
              <a:buAutoNum type="arabicPeriod"/>
            </a:pPr>
            <a:r>
              <a:rPr lang="fr-FR" sz="2400" u="sng" dirty="0"/>
              <a:t>L'évolution</a:t>
            </a:r>
            <a:r>
              <a:rPr lang="fr-FR" sz="2400" dirty="0"/>
              <a:t> des outils et méthodes de gestion financière</a:t>
            </a:r>
          </a:p>
          <a:p>
            <a:pPr marL="800100" lvl="1" indent="-342900">
              <a:spcAft>
                <a:spcPts val="600"/>
              </a:spcAft>
              <a:buFont typeface="+mj-lt"/>
              <a:buAutoNum type="arabicPeriod"/>
            </a:pPr>
            <a:r>
              <a:rPr lang="fr-FR" sz="2400" dirty="0"/>
              <a:t>La contribution à l'amélioration continue des </a:t>
            </a:r>
            <a:r>
              <a:rPr lang="fr-FR" sz="2400" u="sng" dirty="0"/>
              <a:t>processus</a:t>
            </a:r>
            <a:r>
              <a:rPr lang="fr-FR" sz="2400" dirty="0"/>
              <a:t> de gestion financière de l'organisation</a:t>
            </a:r>
          </a:p>
          <a:p>
            <a:pPr lvl="1">
              <a:spcAft>
                <a:spcPts val="600"/>
              </a:spcAft>
            </a:pPr>
            <a:r>
              <a:rPr lang="fr-FR" sz="2400" dirty="0"/>
              <a:t> </a:t>
            </a:r>
          </a:p>
        </p:txBody>
      </p:sp>
    </p:spTree>
    <p:extLst>
      <p:ext uri="{BB962C8B-B14F-4D97-AF65-F5344CB8AC3E}">
        <p14:creationId xmlns:p14="http://schemas.microsoft.com/office/powerpoint/2010/main" val="2271010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1B40A-9815-C8F3-3572-277263D3932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5B090F-0009-13F5-90A2-58C184D0DBEE}"/>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E0CBC561-8F71-E6D7-95AD-8D1EF5AAE277}"/>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5FE1DA0D-562E-BE89-FBF4-A6C5C31BA0CF}"/>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D1F3BDF9-FDEB-6A5B-2288-68518432A1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61BFFA58-BE33-9419-F2DF-E25C889F0FE7}"/>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AAA462FF-9163-2307-E0A9-8A8C8786F9EC}"/>
              </a:ext>
            </a:extLst>
          </p:cNvPr>
          <p:cNvSpPr txBox="1"/>
          <p:nvPr/>
        </p:nvSpPr>
        <p:spPr>
          <a:xfrm>
            <a:off x="0" y="620486"/>
            <a:ext cx="9906000" cy="6986528"/>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Gestion des coûts et du budget</a:t>
            </a:r>
            <a:r>
              <a:rPr lang="fr-FR" sz="3200" dirty="0">
                <a:effectLst/>
                <a:latin typeface="Times New Roman" panose="02020603050405020304" pitchFamily="18" charset="0"/>
                <a:ea typeface="Times New Roman" panose="02020603050405020304" pitchFamily="18" charset="0"/>
              </a:rPr>
              <a:t>.</a:t>
            </a:r>
            <a:endParaRPr lang="fr-FR" sz="2000" dirty="0">
              <a:effectLst/>
              <a:latin typeface="Times New Roman" panose="02020603050405020304" pitchFamily="18" charset="0"/>
              <a:ea typeface="Times New Roman" panose="02020603050405020304" pitchFamily="18" charset="0"/>
            </a:endParaRPr>
          </a:p>
          <a:p>
            <a:pPr lvl="2">
              <a:spcBef>
                <a:spcPts val="600"/>
              </a:spcBef>
            </a:pPr>
            <a:endParaRPr lang="fr-FR" sz="2400" dirty="0"/>
          </a:p>
          <a:p>
            <a:pPr lvl="2">
              <a:spcBef>
                <a:spcPts val="600"/>
              </a:spcBef>
            </a:pPr>
            <a:r>
              <a:rPr lang="fr-FR" sz="2400" dirty="0"/>
              <a:t>Votre parcours </a:t>
            </a:r>
            <a:r>
              <a:rPr lang="fr-FR" sz="2400" i="1" dirty="0"/>
              <a:t>via</a:t>
            </a:r>
            <a:r>
              <a:rPr lang="fr-FR" sz="2400" dirty="0"/>
              <a:t> ce module :</a:t>
            </a:r>
          </a:p>
          <a:p>
            <a:pPr lvl="4" indent="-457200">
              <a:spcBef>
                <a:spcPts val="600"/>
              </a:spcBef>
              <a:buFont typeface="Wingdings" panose="05000000000000000000" pitchFamily="2" charset="2"/>
              <a:buChar char="è"/>
            </a:pPr>
            <a:r>
              <a:rPr lang="fr-FR" sz="2000" dirty="0"/>
              <a:t>à partir de vos connaissances de base en </a:t>
            </a:r>
            <a:r>
              <a:rPr lang="fr-FR" sz="2000" u="sng" dirty="0"/>
              <a:t>gestion de projet</a:t>
            </a:r>
            <a:r>
              <a:rPr lang="fr-FR" sz="2000" dirty="0"/>
              <a:t>…</a:t>
            </a:r>
          </a:p>
          <a:p>
            <a:pPr lvl="4" indent="-457200">
              <a:spcBef>
                <a:spcPts val="600"/>
              </a:spcBef>
              <a:buFont typeface="Wingdings" panose="05000000000000000000" pitchFamily="2" charset="2"/>
              <a:buChar char="è"/>
            </a:pPr>
            <a:r>
              <a:rPr lang="fr-FR" sz="2000" dirty="0"/>
              <a:t>… arriver à effectuer un </a:t>
            </a:r>
            <a:r>
              <a:rPr lang="fr-FR" sz="2000" u="sng" dirty="0"/>
              <a:t>suivi continu</a:t>
            </a:r>
            <a:r>
              <a:rPr lang="fr-FR" sz="2000" dirty="0"/>
              <a:t> des </a:t>
            </a:r>
            <a:r>
              <a:rPr lang="fr-FR" sz="2000" u="sng" dirty="0"/>
              <a:t>indicateurs</a:t>
            </a:r>
            <a:r>
              <a:rPr lang="fr-FR" sz="2000" dirty="0"/>
              <a:t> de performance…</a:t>
            </a:r>
          </a:p>
          <a:p>
            <a:pPr lvl="4" indent="-457200">
              <a:spcBef>
                <a:spcPts val="600"/>
              </a:spcBef>
              <a:buFont typeface="Wingdings" panose="05000000000000000000" pitchFamily="2" charset="2"/>
              <a:buChar char="è"/>
            </a:pPr>
            <a:r>
              <a:rPr lang="fr-FR" sz="2000" dirty="0"/>
              <a:t>… en intégrant des</a:t>
            </a:r>
            <a:r>
              <a:rPr lang="fr-FR" sz="2000" u="sng" dirty="0"/>
              <a:t> outils de suivi </a:t>
            </a:r>
            <a:r>
              <a:rPr lang="fr-FR" sz="2000" dirty="0"/>
              <a:t>(budgétaire et coûts)…</a:t>
            </a:r>
          </a:p>
          <a:p>
            <a:pPr lvl="4" indent="-457200">
              <a:spcBef>
                <a:spcPts val="600"/>
              </a:spcBef>
              <a:buFont typeface="Wingdings" panose="05000000000000000000" pitchFamily="2" charset="2"/>
              <a:buChar char="è"/>
            </a:pPr>
            <a:r>
              <a:rPr lang="fr-FR" sz="2000" dirty="0"/>
              <a:t>… pour </a:t>
            </a:r>
            <a:r>
              <a:rPr lang="fr-FR" sz="2000" u="sng" dirty="0"/>
              <a:t>maintenir</a:t>
            </a:r>
            <a:r>
              <a:rPr lang="fr-FR" sz="2000" dirty="0"/>
              <a:t> une gestion </a:t>
            </a:r>
            <a:r>
              <a:rPr lang="fr-FR" sz="2000" i="1" dirty="0"/>
              <a:t>financière</a:t>
            </a:r>
            <a:r>
              <a:rPr lang="fr-FR" sz="2000" dirty="0"/>
              <a:t> précise et proactive du projet.</a:t>
            </a:r>
          </a:p>
          <a:p>
            <a:pPr marL="1371600" lvl="4">
              <a:spcBef>
                <a:spcPts val="600"/>
              </a:spcBef>
            </a:pPr>
            <a:r>
              <a:rPr lang="fr-FR" sz="2000" dirty="0"/>
              <a:t> </a:t>
            </a:r>
          </a:p>
          <a:p>
            <a:pPr lvl="2">
              <a:spcBef>
                <a:spcPts val="600"/>
              </a:spcBef>
            </a:pPr>
            <a:r>
              <a:rPr lang="fr-FR" sz="2400" b="1" dirty="0"/>
              <a:t>Commençons par soigner notre vocabulaire.</a:t>
            </a:r>
          </a:p>
          <a:p>
            <a:pPr lvl="2">
              <a:spcBef>
                <a:spcPts val="600"/>
              </a:spcBef>
            </a:pPr>
            <a:r>
              <a:rPr lang="fr-FR" sz="2400" b="1" dirty="0"/>
              <a:t>	Par exemple :</a:t>
            </a:r>
          </a:p>
          <a:p>
            <a:pPr marL="1714500" lvl="4" indent="-342900">
              <a:spcBef>
                <a:spcPts val="600"/>
              </a:spcBef>
              <a:buFont typeface="Arial" panose="020B0604020202020204" pitchFamily="34" charset="0"/>
              <a:buChar char="•"/>
            </a:pPr>
            <a:r>
              <a:rPr lang="fr-FR" sz="2000" dirty="0"/>
              <a:t>coût = somme de charges comptables HT</a:t>
            </a:r>
          </a:p>
          <a:p>
            <a:pPr marL="1714500" lvl="4" indent="-342900">
              <a:spcBef>
                <a:spcPts val="600"/>
              </a:spcBef>
              <a:buFont typeface="Arial" panose="020B0604020202020204" pitchFamily="34" charset="0"/>
              <a:buChar char="•"/>
            </a:pPr>
            <a:r>
              <a:rPr lang="fr-FR" sz="2000" dirty="0"/>
              <a:t>charge ne devient une dépense que lorsqu'elle est payée (en TTC)</a:t>
            </a:r>
          </a:p>
          <a:p>
            <a:pPr marL="1714500" lvl="4" indent="-342900">
              <a:spcBef>
                <a:spcPts val="600"/>
              </a:spcBef>
              <a:buFont typeface="Arial" panose="020B0604020202020204" pitchFamily="34" charset="0"/>
              <a:buChar char="•"/>
            </a:pPr>
            <a:r>
              <a:rPr lang="fr-FR" sz="2000" dirty="0"/>
              <a:t>etc. </a:t>
            </a:r>
          </a:p>
          <a:p>
            <a:pPr marL="1241425" lvl="4" indent="-342900" algn="ctr">
              <a:spcBef>
                <a:spcPts val="600"/>
              </a:spcBef>
              <a:buFont typeface="Wingdings" panose="05000000000000000000" pitchFamily="2" charset="2"/>
              <a:buChar char="è"/>
            </a:pPr>
            <a:r>
              <a:rPr lang="fr-FR" sz="2000" dirty="0">
                <a:sym typeface="Wingdings" panose="05000000000000000000" pitchFamily="2" charset="2"/>
              </a:rPr>
              <a:t>petit test pour se positionner…</a:t>
            </a:r>
          </a:p>
          <a:p>
            <a:pPr marL="898525" lvl="4">
              <a:spcBef>
                <a:spcPts val="600"/>
              </a:spcBef>
            </a:pPr>
            <a:r>
              <a:rPr lang="fr-FR" sz="2000" dirty="0">
                <a:sym typeface="Wingdings" panose="05000000000000000000" pitchFamily="2" charset="2"/>
              </a:rPr>
              <a:t> </a:t>
            </a:r>
            <a:endParaRPr lang="fr-FR" sz="2000" dirty="0"/>
          </a:p>
          <a:p>
            <a:pPr marL="1371600" lvl="4">
              <a:spcBef>
                <a:spcPts val="600"/>
              </a:spcBef>
            </a:pPr>
            <a:endParaRPr lang="fr-FR" sz="2000" dirty="0"/>
          </a:p>
          <a:p>
            <a:pPr marL="1371600" lvl="4">
              <a:spcBef>
                <a:spcPts val="600"/>
              </a:spcBef>
            </a:pPr>
            <a:endParaRPr lang="fr-FR" sz="2000" dirty="0"/>
          </a:p>
        </p:txBody>
      </p:sp>
    </p:spTree>
    <p:extLst>
      <p:ext uri="{BB962C8B-B14F-4D97-AF65-F5344CB8AC3E}">
        <p14:creationId xmlns:p14="http://schemas.microsoft.com/office/powerpoint/2010/main" val="54149451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80F26-0E99-57B9-71EA-C9C1AA1101F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99F2E5-7EA3-2CD1-2EC3-475DE90549F4}"/>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1E8397F9-68F7-C6C8-A66B-DED51A1F9CCF}"/>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15481B4C-DD4B-A99D-65F2-118CF344EF47}"/>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44784A3D-B365-AB4D-42D8-065922C7C3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F867FEF8-FE70-384E-9D80-B1C7A8E71B43}"/>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423E24BD-261C-8C32-061D-A9DEE88D1A05}"/>
              </a:ext>
            </a:extLst>
          </p:cNvPr>
          <p:cNvSpPr txBox="1"/>
          <p:nvPr/>
        </p:nvSpPr>
        <p:spPr>
          <a:xfrm>
            <a:off x="0" y="620486"/>
            <a:ext cx="9906000" cy="5673348"/>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Structure d'un budget prévisionnel</a:t>
            </a:r>
            <a:r>
              <a:rPr lang="fr-FR" sz="3200" dirty="0">
                <a:effectLst/>
                <a:latin typeface="Times New Roman" panose="02020603050405020304" pitchFamily="18" charset="0"/>
                <a:ea typeface="Times New Roman" panose="02020603050405020304" pitchFamily="18" charset="0"/>
              </a:rPr>
              <a:t>.</a:t>
            </a:r>
          </a:p>
          <a:p>
            <a:pPr lvl="1" algn="ctr">
              <a:spcBef>
                <a:spcPts val="800"/>
              </a:spcBef>
            </a:pPr>
            <a:endParaRPr lang="fr-FR" sz="1200" dirty="0">
              <a:effectLst/>
              <a:latin typeface="Times New Roman" panose="02020603050405020304" pitchFamily="18" charset="0"/>
              <a:ea typeface="Times New Roman" panose="02020603050405020304" pitchFamily="18" charset="0"/>
            </a:endParaRPr>
          </a:p>
          <a:p>
            <a:pPr marL="441325" lvl="2">
              <a:spcBef>
                <a:spcPts val="600"/>
              </a:spcBef>
              <a:spcAft>
                <a:spcPts val="600"/>
              </a:spcAft>
            </a:pPr>
            <a:r>
              <a:rPr lang="fr-FR" sz="2400" b="1" dirty="0"/>
              <a:t>Types de charges/coûts : </a:t>
            </a:r>
            <a:r>
              <a:rPr lang="fr-FR" sz="2400" b="1" u="sng" dirty="0"/>
              <a:t>directs et indirects</a:t>
            </a:r>
            <a:r>
              <a:rPr lang="fr-FR" sz="2400" b="1" dirty="0"/>
              <a:t>, </a:t>
            </a:r>
            <a:r>
              <a:rPr lang="fr-FR" sz="2400" b="1" u="sng" dirty="0"/>
              <a:t>fixes et variables</a:t>
            </a:r>
            <a:endParaRPr lang="fr-FR" sz="2400" b="1" dirty="0"/>
          </a:p>
          <a:p>
            <a:pPr marL="441325" lvl="2">
              <a:spcBef>
                <a:spcPts val="600"/>
              </a:spcBef>
              <a:spcAft>
                <a:spcPts val="600"/>
              </a:spcAft>
            </a:pPr>
            <a:endParaRPr lang="fr-FR" sz="700" b="1" dirty="0"/>
          </a:p>
          <a:p>
            <a:pPr marL="742950" lvl="1" indent="-285750">
              <a:spcAft>
                <a:spcPts val="600"/>
              </a:spcAft>
              <a:buFont typeface="Arial" panose="020B0604020202020204" pitchFamily="34" charset="0"/>
              <a:buChar char="•"/>
            </a:pPr>
            <a:r>
              <a:rPr lang="fr-FR" sz="2400" b="1" dirty="0"/>
              <a:t>charges </a:t>
            </a:r>
            <a:r>
              <a:rPr lang="fr-FR" sz="2400" b="1" u="sng" dirty="0"/>
              <a:t>directes</a:t>
            </a:r>
            <a:r>
              <a:rPr lang="fr-FR" sz="2400" b="1" dirty="0"/>
              <a:t> :</a:t>
            </a:r>
            <a:r>
              <a:rPr lang="fr-FR" sz="2400" b="1" i="1" dirty="0"/>
              <a:t> </a:t>
            </a:r>
            <a:r>
              <a:rPr lang="fr-FR" sz="2400" i="1" dirty="0"/>
              <a:t>directement liées à un produit, projet, service</a:t>
            </a:r>
            <a:endParaRPr lang="fr-FR" sz="2400" dirty="0"/>
          </a:p>
          <a:p>
            <a:pPr marL="742950" lvl="1" indent="-285750">
              <a:buFont typeface="Arial" panose="020B0604020202020204" pitchFamily="34" charset="0"/>
              <a:buChar char="•"/>
            </a:pPr>
            <a:r>
              <a:rPr lang="fr-FR" sz="2400" b="1" dirty="0"/>
              <a:t>charges </a:t>
            </a:r>
            <a:r>
              <a:rPr lang="fr-FR" sz="2400" b="1" u="sng" dirty="0"/>
              <a:t>indirectes</a:t>
            </a:r>
            <a:r>
              <a:rPr lang="fr-FR" sz="2400" b="1" dirty="0"/>
              <a:t> : </a:t>
            </a:r>
            <a:r>
              <a:rPr lang="fr-FR" sz="2400" dirty="0"/>
              <a:t>r</a:t>
            </a:r>
            <a:r>
              <a:rPr lang="fr-FR" sz="2400" i="1" dirty="0"/>
              <a:t>éparties entre plusieurs produits/départements</a:t>
            </a:r>
            <a:endParaRPr lang="fr-FR" sz="2400" dirty="0"/>
          </a:p>
          <a:p>
            <a:endParaRPr lang="fr-FR" sz="1100" dirty="0"/>
          </a:p>
          <a:p>
            <a:r>
              <a:rPr lang="fr-FR" sz="2400" dirty="0"/>
              <a:t>       Cette classification dépend du </a:t>
            </a:r>
            <a:r>
              <a:rPr lang="fr-FR" sz="2400" b="1" dirty="0"/>
              <a:t>niveau d'analyse</a:t>
            </a:r>
            <a:endParaRPr lang="fr-FR" sz="2400" dirty="0"/>
          </a:p>
          <a:p>
            <a:pPr marL="1200150" lvl="2" indent="-285750">
              <a:buFont typeface="Wingdings" panose="05000000000000000000" pitchFamily="2" charset="2"/>
              <a:buChar char="Ø"/>
            </a:pPr>
            <a:r>
              <a:rPr lang="fr-FR" sz="2400" dirty="0"/>
              <a:t> une charge peut être </a:t>
            </a:r>
            <a:r>
              <a:rPr lang="fr-FR" sz="2400" b="1" dirty="0"/>
              <a:t>directe à un niveau</a:t>
            </a:r>
            <a:r>
              <a:rPr lang="fr-FR" sz="2400" dirty="0"/>
              <a:t> (ex. : salaire d'un chef de projets pour son département) </a:t>
            </a:r>
          </a:p>
          <a:p>
            <a:pPr marL="1200150" lvl="2" indent="-285750">
              <a:buFont typeface="Wingdings" panose="05000000000000000000" pitchFamily="2" charset="2"/>
              <a:buChar char="Ø"/>
            </a:pPr>
            <a:r>
              <a:rPr lang="fr-FR" sz="2400" dirty="0"/>
              <a:t>et être </a:t>
            </a:r>
            <a:r>
              <a:rPr lang="fr-FR" sz="2400" b="1" dirty="0"/>
              <a:t>indirecte à un autre niveau</a:t>
            </a:r>
            <a:r>
              <a:rPr lang="fr-FR" sz="2400" dirty="0"/>
              <a:t> (il travaille sur plusieurs projets).</a:t>
            </a:r>
          </a:p>
          <a:p>
            <a:r>
              <a:rPr lang="fr-FR" sz="2400" b="1" dirty="0"/>
              <a:t> </a:t>
            </a:r>
            <a:endParaRPr lang="fr-FR" sz="2400" dirty="0"/>
          </a:p>
          <a:p>
            <a:pPr marL="800100" lvl="1" indent="-342900">
              <a:buFont typeface="Arial" panose="020B0604020202020204" pitchFamily="34" charset="0"/>
              <a:buChar char="•"/>
            </a:pPr>
            <a:r>
              <a:rPr lang="fr-FR" sz="2400" b="1" dirty="0"/>
              <a:t>charges fixes : </a:t>
            </a:r>
            <a:r>
              <a:rPr lang="fr-FR" sz="2400" i="1" dirty="0"/>
              <a:t>ne varient pas avec le niveau d'activité</a:t>
            </a:r>
            <a:r>
              <a:rPr lang="fr-FR" sz="2400" dirty="0"/>
              <a:t>, frais généraux.</a:t>
            </a:r>
          </a:p>
          <a:p>
            <a:pPr marL="800100" lvl="1" indent="-342900">
              <a:buFont typeface="Arial" panose="020B0604020202020204" pitchFamily="34" charset="0"/>
              <a:buChar char="•"/>
            </a:pPr>
            <a:r>
              <a:rPr lang="fr-FR" sz="2400" b="1" dirty="0"/>
              <a:t>charges variables : </a:t>
            </a:r>
            <a:r>
              <a:rPr lang="fr-FR" sz="2400" i="1" dirty="0"/>
              <a:t>varient proportionnellement au niveau d'activité.</a:t>
            </a:r>
            <a:endParaRPr lang="fr-FR" sz="2400" b="1" dirty="0"/>
          </a:p>
          <a:p>
            <a:pPr marL="1812925" lvl="7">
              <a:spcBef>
                <a:spcPts val="600"/>
              </a:spcBef>
            </a:pPr>
            <a:r>
              <a:rPr lang="fr-FR" sz="2400" dirty="0"/>
              <a:t> </a:t>
            </a:r>
          </a:p>
        </p:txBody>
      </p:sp>
    </p:spTree>
    <p:extLst>
      <p:ext uri="{BB962C8B-B14F-4D97-AF65-F5344CB8AC3E}">
        <p14:creationId xmlns:p14="http://schemas.microsoft.com/office/powerpoint/2010/main" val="87099928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6B885-14B8-1199-3A8B-C0B5A2B534B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C0ABF71-4165-C935-C9AA-90BE3F0E9A8A}"/>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702A09A6-8599-21D6-602B-C45A6B5E7D75}"/>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0898E10E-DE76-E274-BEDF-008D5A9EE0AD}"/>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123423BA-89BB-EB2B-0D69-68BF9D80473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2EBF73D5-FB9E-DE37-8475-29C434F9CCB8}"/>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7AFB4EB4-C19B-E7F9-33DC-9C5CB8219B9D}"/>
              </a:ext>
            </a:extLst>
          </p:cNvPr>
          <p:cNvSpPr txBox="1"/>
          <p:nvPr/>
        </p:nvSpPr>
        <p:spPr>
          <a:xfrm>
            <a:off x="0" y="620486"/>
            <a:ext cx="9906000" cy="6370975"/>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Structure d'un budget prévisionnel</a:t>
            </a:r>
            <a:r>
              <a:rPr lang="fr-FR" sz="3200" dirty="0">
                <a:effectLst/>
                <a:latin typeface="Times New Roman" panose="02020603050405020304" pitchFamily="18" charset="0"/>
                <a:ea typeface="Times New Roman" panose="02020603050405020304" pitchFamily="18" charset="0"/>
              </a:rPr>
              <a:t>.</a:t>
            </a:r>
          </a:p>
          <a:p>
            <a:pPr marL="441325" lvl="2" algn="ctr">
              <a:spcBef>
                <a:spcPts val="1200"/>
              </a:spcBef>
              <a:spcAft>
                <a:spcPts val="600"/>
              </a:spcAft>
            </a:pPr>
            <a:r>
              <a:rPr lang="fr-FR" sz="2400" b="1" dirty="0"/>
              <a:t>Exemples de charges </a:t>
            </a:r>
            <a:r>
              <a:rPr lang="fr-FR" sz="2400" b="1" u="sng" dirty="0"/>
              <a:t>fixes</a:t>
            </a:r>
            <a:endParaRPr lang="fr-FR" sz="2400" b="1" dirty="0"/>
          </a:p>
          <a:p>
            <a:pPr marL="800100" lvl="1" indent="-342900">
              <a:buFont typeface="Wingdings" panose="05000000000000000000" pitchFamily="2" charset="2"/>
              <a:buChar char="Ø"/>
            </a:pPr>
            <a:r>
              <a:rPr lang="fr-FR" sz="2200" b="1" dirty="0"/>
              <a:t>Charges </a:t>
            </a:r>
            <a:r>
              <a:rPr lang="fr-FR" sz="2200" b="1" u="sng" dirty="0"/>
              <a:t>fixes directes</a:t>
            </a:r>
            <a:r>
              <a:rPr lang="fr-FR" sz="2200" b="1" dirty="0"/>
              <a:t> :</a:t>
            </a:r>
            <a:endParaRPr lang="fr-FR" sz="2200" dirty="0"/>
          </a:p>
          <a:p>
            <a:pPr marL="1257300" lvl="2" indent="-342900">
              <a:buFont typeface="Wingdings" panose="05000000000000000000" pitchFamily="2" charset="2"/>
              <a:buChar char="ü"/>
            </a:pPr>
            <a:r>
              <a:rPr lang="fr-FR" sz="2200" b="1" dirty="0"/>
              <a:t>Amortissement d'un matériel</a:t>
            </a:r>
            <a:r>
              <a:rPr lang="fr-FR" sz="2200" dirty="0"/>
              <a:t> dédié à un produit, service ou projet spécifique.</a:t>
            </a:r>
          </a:p>
          <a:p>
            <a:pPr marL="1257300" lvl="2" indent="-342900">
              <a:buFont typeface="Wingdings" panose="05000000000000000000" pitchFamily="2" charset="2"/>
              <a:buChar char="ü"/>
            </a:pPr>
            <a:r>
              <a:rPr lang="fr-FR" sz="2200" b="1" dirty="0"/>
              <a:t>Salaire d'un chef de produit</a:t>
            </a:r>
            <a:r>
              <a:rPr lang="fr-FR" sz="2200" dirty="0"/>
              <a:t> (si affecté à un seul produit).</a:t>
            </a:r>
          </a:p>
          <a:p>
            <a:pPr marL="1257300" lvl="2" indent="-342900">
              <a:buFont typeface="Wingdings" panose="05000000000000000000" pitchFamily="2" charset="2"/>
              <a:buChar char="ü"/>
            </a:pPr>
            <a:r>
              <a:rPr lang="fr-FR" sz="2200" b="1" dirty="0"/>
              <a:t>Loyer d'un entrepôt</a:t>
            </a:r>
            <a:r>
              <a:rPr lang="fr-FR" sz="2200" dirty="0"/>
              <a:t> réservé à un seul type de stock.</a:t>
            </a:r>
          </a:p>
          <a:p>
            <a:r>
              <a:rPr lang="fr-FR" sz="2200" b="1" dirty="0"/>
              <a:t> </a:t>
            </a:r>
            <a:endParaRPr lang="fr-FR" sz="2200" dirty="0"/>
          </a:p>
          <a:p>
            <a:pPr marL="800100" lvl="1" indent="-342900">
              <a:buFont typeface="Wingdings" panose="05000000000000000000" pitchFamily="2" charset="2"/>
              <a:buChar char="Ø"/>
            </a:pPr>
            <a:r>
              <a:rPr lang="fr-FR" sz="2200" b="1" dirty="0"/>
              <a:t>Charges </a:t>
            </a:r>
            <a:r>
              <a:rPr lang="fr-FR" sz="2200" b="1" u="sng" dirty="0"/>
              <a:t>fixes indirectes</a:t>
            </a:r>
            <a:r>
              <a:rPr lang="fr-FR" sz="2200" b="1" dirty="0"/>
              <a:t> :</a:t>
            </a:r>
            <a:endParaRPr lang="fr-FR" sz="2200" u="sng" dirty="0"/>
          </a:p>
          <a:p>
            <a:pPr marL="1257300" lvl="2" indent="-342900">
              <a:buFont typeface="Wingdings" panose="05000000000000000000" pitchFamily="2" charset="2"/>
              <a:buChar char="ü"/>
            </a:pPr>
            <a:r>
              <a:rPr lang="fr-FR" sz="2200" b="1" dirty="0"/>
              <a:t>Amortissement des bâtiments</a:t>
            </a:r>
            <a:r>
              <a:rPr lang="fr-FR" sz="2200" dirty="0"/>
              <a:t> administratifs ou de production (communs à plusieurs produits ou projets).</a:t>
            </a:r>
          </a:p>
          <a:p>
            <a:pPr marL="1257300" lvl="2" indent="-342900">
              <a:buFont typeface="Wingdings" panose="05000000000000000000" pitchFamily="2" charset="2"/>
              <a:buChar char="ü"/>
            </a:pPr>
            <a:r>
              <a:rPr lang="fr-FR" sz="2200" b="1" dirty="0"/>
              <a:t>Salaires des cadres </a:t>
            </a:r>
            <a:r>
              <a:rPr lang="fr-FR" sz="2200" dirty="0"/>
              <a:t>(DG, RH, comptabilité).</a:t>
            </a:r>
          </a:p>
          <a:p>
            <a:pPr marL="1257300" lvl="2" indent="-342900">
              <a:buFont typeface="Wingdings" panose="05000000000000000000" pitchFamily="2" charset="2"/>
              <a:buChar char="ü"/>
            </a:pPr>
            <a:r>
              <a:rPr lang="fr-FR" sz="2200" b="1" dirty="0"/>
              <a:t>Assurance professionnelle de l’organisation </a:t>
            </a:r>
            <a:r>
              <a:rPr lang="fr-FR" sz="2200" dirty="0"/>
              <a:t>(globale, non affectée à un produit/projet précis).</a:t>
            </a:r>
          </a:p>
          <a:p>
            <a:pPr marL="1257300" lvl="2" indent="-342900">
              <a:buFont typeface="Wingdings" panose="05000000000000000000" pitchFamily="2" charset="2"/>
              <a:buChar char="ü"/>
            </a:pPr>
            <a:r>
              <a:rPr lang="fr-FR" sz="2200" b="1" dirty="0"/>
              <a:t>Frais de publicité </a:t>
            </a:r>
            <a:r>
              <a:rPr lang="fr-FR" sz="2200" b="1" dirty="0" err="1"/>
              <a:t>corporate</a:t>
            </a:r>
            <a:r>
              <a:rPr lang="fr-FR" sz="2200" dirty="0"/>
              <a:t> (image de marque, non liée à un produit).</a:t>
            </a:r>
          </a:p>
          <a:p>
            <a:pPr lvl="2"/>
            <a:r>
              <a:rPr lang="fr-FR" sz="2200" dirty="0"/>
              <a:t> </a:t>
            </a:r>
          </a:p>
          <a:p>
            <a:pPr marL="446088" lvl="7" defTabSz="941388">
              <a:spcBef>
                <a:spcPts val="600"/>
              </a:spcBef>
            </a:pPr>
            <a:endParaRPr lang="fr-FR" sz="2400" dirty="0"/>
          </a:p>
        </p:txBody>
      </p:sp>
    </p:spTree>
    <p:extLst>
      <p:ext uri="{BB962C8B-B14F-4D97-AF65-F5344CB8AC3E}">
        <p14:creationId xmlns:p14="http://schemas.microsoft.com/office/powerpoint/2010/main" val="380618324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1E3E8-0EE4-382B-6BEF-D07D41B027E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25C453-DAAB-935C-7BE3-42F61348574E}"/>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151DF487-C56F-B6D8-54B4-5AED68A4CFF6}"/>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36572800-3D9D-3C5A-0F63-B55E5357C718}"/>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6FCE0301-C98E-8F9A-2A34-513CDD0CCAF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DC3905F1-5DF3-6DD2-58BD-17E0D37C6CA7}"/>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AF3B70A9-3FD5-4A80-0E5A-DACDBE90895D}"/>
              </a:ext>
            </a:extLst>
          </p:cNvPr>
          <p:cNvSpPr txBox="1"/>
          <p:nvPr/>
        </p:nvSpPr>
        <p:spPr>
          <a:xfrm>
            <a:off x="0" y="620486"/>
            <a:ext cx="9906000" cy="6370975"/>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Structure d'un budget prévisionnel</a:t>
            </a:r>
            <a:r>
              <a:rPr lang="fr-FR" sz="3200" dirty="0">
                <a:effectLst/>
                <a:latin typeface="Times New Roman" panose="02020603050405020304" pitchFamily="18" charset="0"/>
                <a:ea typeface="Times New Roman" panose="02020603050405020304" pitchFamily="18" charset="0"/>
              </a:rPr>
              <a:t>.</a:t>
            </a:r>
          </a:p>
          <a:p>
            <a:pPr marL="441325" lvl="2" algn="ctr">
              <a:spcBef>
                <a:spcPts val="1200"/>
              </a:spcBef>
              <a:spcAft>
                <a:spcPts val="600"/>
              </a:spcAft>
            </a:pPr>
            <a:r>
              <a:rPr lang="fr-FR" sz="2400" b="1" dirty="0"/>
              <a:t>Exemples de charges </a:t>
            </a:r>
            <a:r>
              <a:rPr lang="fr-FR" sz="2400" b="1" u="sng" dirty="0"/>
              <a:t>variables</a:t>
            </a:r>
            <a:endParaRPr lang="fr-FR" sz="2200" dirty="0"/>
          </a:p>
          <a:p>
            <a:pPr marL="800100" lvl="1" indent="-342900">
              <a:buFont typeface="Wingdings" panose="05000000000000000000" pitchFamily="2" charset="2"/>
              <a:buChar char="Ø"/>
            </a:pPr>
            <a:r>
              <a:rPr lang="fr-FR" sz="2200" b="1" dirty="0"/>
              <a:t>Charges variables directes </a:t>
            </a:r>
          </a:p>
          <a:p>
            <a:pPr marL="1257300" lvl="2" indent="-342900">
              <a:buFont typeface="Wingdings" panose="05000000000000000000" pitchFamily="2" charset="2"/>
              <a:buChar char="ü"/>
            </a:pPr>
            <a:r>
              <a:rPr lang="fr-FR" sz="2200" b="1" dirty="0"/>
              <a:t>Matières premières </a:t>
            </a:r>
            <a:r>
              <a:rPr lang="fr-FR" sz="2200" dirty="0"/>
              <a:t>(ex. : bois pour une table, tissu pour un vêtement).</a:t>
            </a:r>
          </a:p>
          <a:p>
            <a:pPr marL="1257300" lvl="2" indent="-342900">
              <a:buFont typeface="Wingdings" panose="05000000000000000000" pitchFamily="2" charset="2"/>
              <a:buChar char="ü"/>
            </a:pPr>
            <a:r>
              <a:rPr lang="fr-FR" sz="2200" b="1" dirty="0"/>
              <a:t>Main-d'œuvre directe</a:t>
            </a:r>
            <a:r>
              <a:rPr lang="fr-FR" sz="2200" dirty="0"/>
              <a:t> (salaires affectés à un produit, à un projet).</a:t>
            </a:r>
          </a:p>
          <a:p>
            <a:pPr marL="1257300" lvl="2" indent="-342900">
              <a:buFont typeface="Wingdings" panose="05000000000000000000" pitchFamily="2" charset="2"/>
              <a:buChar char="ü"/>
            </a:pPr>
            <a:r>
              <a:rPr lang="fr-FR" sz="2200" b="1" dirty="0"/>
              <a:t>Énergie consommée par machine pour fabriquer un produit</a:t>
            </a:r>
            <a:r>
              <a:rPr lang="fr-FR" sz="2200" dirty="0"/>
              <a:t> (ex. : électricité pour un four).</a:t>
            </a:r>
          </a:p>
          <a:p>
            <a:pPr marL="1257300" lvl="2" indent="-342900">
              <a:buFont typeface="Wingdings" panose="05000000000000000000" pitchFamily="2" charset="2"/>
              <a:buChar char="ü"/>
            </a:pPr>
            <a:r>
              <a:rPr lang="fr-FR" sz="2200" b="1" dirty="0"/>
              <a:t>Commissions sur ventes, primes</a:t>
            </a:r>
            <a:r>
              <a:rPr lang="fr-FR" sz="2200" dirty="0"/>
              <a:t> (% du CA versé aux acteurs par produit, par projet).</a:t>
            </a:r>
          </a:p>
          <a:p>
            <a:r>
              <a:rPr lang="fr-FR" sz="2200" dirty="0"/>
              <a:t> </a:t>
            </a:r>
          </a:p>
          <a:p>
            <a:pPr marL="800100" lvl="1" indent="-342900">
              <a:buFont typeface="Wingdings" panose="05000000000000000000" pitchFamily="2" charset="2"/>
              <a:buChar char="Ø"/>
            </a:pPr>
            <a:r>
              <a:rPr lang="fr-FR" sz="2200" b="1" dirty="0"/>
              <a:t>Charges variables indirectes </a:t>
            </a:r>
          </a:p>
          <a:p>
            <a:pPr marL="1257300" lvl="2" indent="-342900">
              <a:buFont typeface="Wingdings" panose="05000000000000000000" pitchFamily="2" charset="2"/>
              <a:buChar char="ü"/>
            </a:pPr>
            <a:r>
              <a:rPr lang="fr-FR" sz="2200" b="1" dirty="0"/>
              <a:t>Électricité générale </a:t>
            </a:r>
            <a:r>
              <a:rPr lang="fr-FR" sz="2200" dirty="0"/>
              <a:t>des locaux (non mesurable par produit/projet).</a:t>
            </a:r>
          </a:p>
          <a:p>
            <a:pPr marL="1257300" lvl="2" indent="-342900">
              <a:buFont typeface="Wingdings" panose="05000000000000000000" pitchFamily="2" charset="2"/>
              <a:buChar char="ü"/>
            </a:pPr>
            <a:r>
              <a:rPr lang="fr-FR" sz="2200" b="1" dirty="0"/>
              <a:t>Frais de transport</a:t>
            </a:r>
            <a:r>
              <a:rPr lang="fr-FR" sz="2200" dirty="0"/>
              <a:t> (si mutualisés).</a:t>
            </a:r>
          </a:p>
          <a:p>
            <a:pPr marL="1257300" lvl="2" indent="-342900">
              <a:buFont typeface="Wingdings" panose="05000000000000000000" pitchFamily="2" charset="2"/>
              <a:buChar char="ü"/>
            </a:pPr>
            <a:r>
              <a:rPr lang="fr-FR" sz="2200" b="1" dirty="0"/>
              <a:t>Consommables </a:t>
            </a:r>
            <a:r>
              <a:rPr lang="fr-FR" sz="2200" dirty="0"/>
              <a:t>(produits d'entretien, papier, toners,…).</a:t>
            </a:r>
          </a:p>
          <a:p>
            <a:pPr marL="1257300" lvl="2" indent="-342900">
              <a:buFont typeface="Wingdings" panose="05000000000000000000" pitchFamily="2" charset="2"/>
              <a:buChar char="ü"/>
            </a:pPr>
            <a:r>
              <a:rPr lang="fr-FR" sz="2200" b="1" dirty="0"/>
              <a:t>Frais de sous-traitance</a:t>
            </a:r>
            <a:r>
              <a:rPr lang="fr-FR" sz="2200" dirty="0"/>
              <a:t> (si partagés entre plusieurs commandes, entretien locaux,).</a:t>
            </a:r>
          </a:p>
          <a:p>
            <a:pPr marL="446088" lvl="7" defTabSz="941388">
              <a:spcBef>
                <a:spcPts val="600"/>
              </a:spcBef>
            </a:pPr>
            <a:r>
              <a:rPr lang="fr-FR" sz="2400" dirty="0"/>
              <a:t> </a:t>
            </a:r>
          </a:p>
        </p:txBody>
      </p:sp>
    </p:spTree>
    <p:extLst>
      <p:ext uri="{BB962C8B-B14F-4D97-AF65-F5344CB8AC3E}">
        <p14:creationId xmlns:p14="http://schemas.microsoft.com/office/powerpoint/2010/main" val="13642280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3EAA5-9A99-63F2-9568-B43E56084E0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F9A6A5C-F265-8E2F-B9BE-418CBB78F16F}"/>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DDA4ECEF-B445-D33E-39E6-31342DA7F16B}"/>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0D63BE13-6C7A-77AA-EA83-4C74855AB7AC}"/>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8657CACD-7A1E-FDA2-64FE-1AC4605208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9E8B5DB9-8990-4582-C357-42CC6FAC827F}"/>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4DA72194-5A69-DBB5-79BE-FCB373C8D351}"/>
              </a:ext>
            </a:extLst>
          </p:cNvPr>
          <p:cNvSpPr txBox="1"/>
          <p:nvPr/>
        </p:nvSpPr>
        <p:spPr>
          <a:xfrm>
            <a:off x="0" y="620486"/>
            <a:ext cx="9906000" cy="6494085"/>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Structure d'un budget prévisionnel</a:t>
            </a:r>
            <a:r>
              <a:rPr lang="fr-FR" sz="3200" dirty="0">
                <a:effectLst/>
                <a:latin typeface="Times New Roman" panose="02020603050405020304" pitchFamily="18" charset="0"/>
                <a:ea typeface="Times New Roman" panose="02020603050405020304" pitchFamily="18" charset="0"/>
              </a:rPr>
              <a:t>.</a:t>
            </a:r>
            <a:endParaRPr lang="fr-FR" sz="2000" dirty="0">
              <a:effectLst/>
              <a:latin typeface="Times New Roman" panose="02020603050405020304" pitchFamily="18" charset="0"/>
              <a:ea typeface="Times New Roman" panose="02020603050405020304" pitchFamily="18" charset="0"/>
            </a:endParaRPr>
          </a:p>
          <a:p>
            <a:pPr marL="898525" lvl="2" indent="-457200">
              <a:spcBef>
                <a:spcPts val="600"/>
              </a:spcBef>
              <a:spcAft>
                <a:spcPts val="600"/>
              </a:spcAft>
              <a:buFont typeface="+mj-lt"/>
              <a:buAutoNum type="arabicPeriod"/>
            </a:pPr>
            <a:r>
              <a:rPr lang="fr-FR" sz="2400" b="1" dirty="0"/>
              <a:t>Estimation des coûts directs et indirects, prévus sur le projet :</a:t>
            </a:r>
          </a:p>
          <a:p>
            <a:pPr marL="1355725" lvl="5" indent="-457200">
              <a:spcBef>
                <a:spcPts val="600"/>
              </a:spcBef>
              <a:buFont typeface="Wingdings" panose="05000000000000000000" pitchFamily="2" charset="2"/>
              <a:buChar char="è"/>
            </a:pPr>
            <a:r>
              <a:rPr lang="fr-FR" sz="2000" b="1" dirty="0"/>
              <a:t>coûts directs</a:t>
            </a:r>
          </a:p>
          <a:p>
            <a:pPr marL="1812925" lvl="6" indent="-457200">
              <a:spcBef>
                <a:spcPts val="600"/>
              </a:spcBef>
              <a:buFont typeface="Wingdings" panose="05000000000000000000" pitchFamily="2" charset="2"/>
              <a:buChar char="è"/>
            </a:pPr>
            <a:r>
              <a:rPr lang="fr-FR" sz="2000" dirty="0"/>
              <a:t>salaires RH</a:t>
            </a:r>
          </a:p>
          <a:p>
            <a:pPr marL="2270125" lvl="7" indent="-457200">
              <a:spcBef>
                <a:spcPts val="600"/>
              </a:spcBef>
              <a:buFont typeface="Wingdings" panose="05000000000000000000" pitchFamily="2" charset="2"/>
              <a:buChar char="è"/>
            </a:pPr>
            <a:r>
              <a:rPr lang="fr-FR" sz="2000" dirty="0"/>
              <a:t>incl. le </a:t>
            </a:r>
            <a:r>
              <a:rPr lang="fr-FR" sz="2000" dirty="0" err="1"/>
              <a:t>CdP</a:t>
            </a:r>
            <a:endParaRPr lang="fr-FR" sz="2000" dirty="0"/>
          </a:p>
          <a:p>
            <a:pPr marL="2270125" lvl="7" indent="-457200">
              <a:spcBef>
                <a:spcPts val="600"/>
              </a:spcBef>
              <a:buFont typeface="Wingdings" panose="05000000000000000000" pitchFamily="2" charset="2"/>
              <a:buChar char="è"/>
            </a:pPr>
            <a:r>
              <a:rPr lang="fr-FR" sz="2000" dirty="0"/>
              <a:t>niveau de granularité : par personne, ou par profil, ou par H/jr</a:t>
            </a:r>
          </a:p>
          <a:p>
            <a:pPr marL="2270125" lvl="7" indent="-457200">
              <a:spcBef>
                <a:spcPts val="600"/>
              </a:spcBef>
              <a:buFont typeface="Wingdings" panose="05000000000000000000" pitchFamily="2" charset="2"/>
              <a:buChar char="è"/>
            </a:pPr>
            <a:r>
              <a:rPr lang="fr-FR" sz="2000" dirty="0"/>
              <a:t>salaires bruts + primes + avantages + charges patronales</a:t>
            </a:r>
          </a:p>
          <a:p>
            <a:pPr marL="2270125" lvl="7" indent="-457200">
              <a:spcBef>
                <a:spcPts val="600"/>
              </a:spcBef>
              <a:buFont typeface="Wingdings" panose="05000000000000000000" pitchFamily="2" charset="2"/>
              <a:buChar char="è"/>
            </a:pPr>
            <a:r>
              <a:rPr lang="fr-FR" sz="2000" i="1" dirty="0"/>
              <a:t>sh </a:t>
            </a:r>
            <a:r>
              <a:rPr lang="fr-FR" sz="2000" dirty="0"/>
              <a:t>€/heure	ou 	</a:t>
            </a:r>
            <a:r>
              <a:rPr lang="fr-FR" sz="2000" i="1" dirty="0" err="1"/>
              <a:t>sj</a:t>
            </a:r>
            <a:r>
              <a:rPr lang="fr-FR" sz="2000" dirty="0"/>
              <a:t> €/jr		x  </a:t>
            </a:r>
            <a:r>
              <a:rPr lang="fr-FR" sz="2000" dirty="0" err="1"/>
              <a:t>nb_heures</a:t>
            </a:r>
            <a:r>
              <a:rPr lang="fr-FR" sz="2000" dirty="0"/>
              <a:t> ou </a:t>
            </a:r>
            <a:r>
              <a:rPr lang="fr-FR" sz="2000" dirty="0" err="1"/>
              <a:t>nb_jours</a:t>
            </a:r>
            <a:endParaRPr lang="fr-FR" sz="2000" dirty="0"/>
          </a:p>
          <a:p>
            <a:pPr marL="1812925" lvl="6" indent="-457200">
              <a:spcBef>
                <a:spcPts val="600"/>
              </a:spcBef>
              <a:buFont typeface="Wingdings" panose="05000000000000000000" pitchFamily="2" charset="2"/>
              <a:buChar char="è"/>
            </a:pPr>
            <a:r>
              <a:rPr lang="fr-FR" sz="2000" dirty="0"/>
              <a:t>coûts prestataires externes : </a:t>
            </a:r>
            <a:r>
              <a:rPr lang="fr-FR" sz="2000" dirty="0" err="1"/>
              <a:t>cj</a:t>
            </a:r>
            <a:r>
              <a:rPr lang="fr-FR" sz="2000" dirty="0"/>
              <a:t> €/jr		x </a:t>
            </a:r>
            <a:r>
              <a:rPr lang="fr-FR" sz="2000" dirty="0" err="1"/>
              <a:t>nb_jours</a:t>
            </a:r>
            <a:endParaRPr lang="fr-FR" sz="2000" dirty="0"/>
          </a:p>
          <a:p>
            <a:pPr marL="1812925" lvl="6" indent="-457200">
              <a:spcBef>
                <a:spcPts val="600"/>
              </a:spcBef>
              <a:buFont typeface="Wingdings" panose="05000000000000000000" pitchFamily="2" charset="2"/>
              <a:buChar char="è"/>
            </a:pPr>
            <a:r>
              <a:rPr lang="fr-FR" sz="2000" b="1" dirty="0">
                <a:highlight>
                  <a:srgbClr val="FFFF00"/>
                </a:highlight>
              </a:rPr>
              <a:t>  coûts d'</a:t>
            </a:r>
            <a:r>
              <a:rPr lang="fr-FR" sz="2000" b="1" u="sng" dirty="0">
                <a:highlight>
                  <a:srgbClr val="FFFF00"/>
                </a:highlight>
              </a:rPr>
              <a:t>acquisition</a:t>
            </a:r>
            <a:r>
              <a:rPr lang="fr-FR" sz="2000" b="1" dirty="0">
                <a:highlight>
                  <a:srgbClr val="FFFF00"/>
                </a:highlight>
              </a:rPr>
              <a:t> </a:t>
            </a:r>
            <a:r>
              <a:rPr lang="fr-FR" sz="2000" b="1" dirty="0">
                <a:solidFill>
                  <a:srgbClr val="FFFF00"/>
                </a:solidFill>
                <a:highlight>
                  <a:srgbClr val="FFFF00"/>
                </a:highlight>
              </a:rPr>
              <a:t>.</a:t>
            </a:r>
          </a:p>
          <a:p>
            <a:pPr marL="2270125" lvl="7" indent="-457200">
              <a:spcBef>
                <a:spcPts val="600"/>
              </a:spcBef>
              <a:buFont typeface="Wingdings" panose="05000000000000000000" pitchFamily="2" charset="2"/>
              <a:buChar char="è"/>
            </a:pPr>
            <a:r>
              <a:rPr lang="fr-FR" sz="2000" dirty="0"/>
              <a:t>cf. process Achat</a:t>
            </a:r>
          </a:p>
          <a:p>
            <a:pPr marL="2270125" lvl="7" indent="-457200">
              <a:spcBef>
                <a:spcPts val="600"/>
              </a:spcBef>
              <a:buFont typeface="Wingdings" panose="05000000000000000000" pitchFamily="2" charset="2"/>
              <a:buChar char="è"/>
            </a:pPr>
            <a:r>
              <a:rPr lang="fr-FR" sz="2000" dirty="0"/>
              <a:t>niveau de granularité : fournitures de bureau, périphériques, etc.</a:t>
            </a:r>
          </a:p>
          <a:p>
            <a:pPr marL="1812925" lvl="6" indent="-457200">
              <a:spcBef>
                <a:spcPts val="600"/>
              </a:spcBef>
              <a:buFont typeface="Wingdings" panose="05000000000000000000" pitchFamily="2" charset="2"/>
              <a:buChar char="è"/>
            </a:pPr>
            <a:r>
              <a:rPr lang="fr-FR" sz="2000" dirty="0"/>
              <a:t>coûts de location</a:t>
            </a:r>
          </a:p>
          <a:p>
            <a:pPr marL="1812925" lvl="6" indent="-457200">
              <a:spcBef>
                <a:spcPts val="600"/>
              </a:spcBef>
              <a:buFont typeface="Wingdings" panose="05000000000000000000" pitchFamily="2" charset="2"/>
              <a:buChar char="è"/>
            </a:pPr>
            <a:r>
              <a:rPr lang="fr-FR" sz="2000" dirty="0"/>
              <a:t>déplacements, réunions, astreintes</a:t>
            </a:r>
          </a:p>
          <a:p>
            <a:pPr marL="2270125" lvl="7" indent="-457200">
              <a:spcBef>
                <a:spcPts val="600"/>
              </a:spcBef>
              <a:buFont typeface="Wingdings" panose="05000000000000000000" pitchFamily="2" charset="2"/>
              <a:buChar char="è"/>
            </a:pPr>
            <a:r>
              <a:rPr lang="fr-FR" sz="2000" dirty="0"/>
              <a:t>billets, repas, frais, location salles, traiteur,…</a:t>
            </a:r>
          </a:p>
          <a:p>
            <a:pPr marL="1812925" lvl="7">
              <a:spcBef>
                <a:spcPts val="600"/>
              </a:spcBef>
            </a:pPr>
            <a:r>
              <a:rPr lang="fr-FR" sz="2000" dirty="0"/>
              <a:t> </a:t>
            </a:r>
          </a:p>
        </p:txBody>
      </p:sp>
    </p:spTree>
    <p:extLst>
      <p:ext uri="{BB962C8B-B14F-4D97-AF65-F5344CB8AC3E}">
        <p14:creationId xmlns:p14="http://schemas.microsoft.com/office/powerpoint/2010/main" val="221273703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C7E33-83D6-BC8B-B3B1-4A1A943310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67FDCE7-43C9-7E19-CB3A-AC01B9B4B200}"/>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282B9E91-0D03-52E6-036B-AD73A4BB6CF1}"/>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5D691CBD-13D6-EB58-7B1B-31A774A61695}"/>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2A0CCBD9-2C05-59D0-941B-3B0C5F5430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09AFFDEC-4A78-E570-97C7-050E08E19564}"/>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647315D0-9AFC-3DBE-2689-9D336B353CB2}"/>
              </a:ext>
            </a:extLst>
          </p:cNvPr>
          <p:cNvSpPr txBox="1"/>
          <p:nvPr/>
        </p:nvSpPr>
        <p:spPr>
          <a:xfrm>
            <a:off x="0" y="620486"/>
            <a:ext cx="9906000" cy="6878806"/>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Structure d'un budget prévisionnel</a:t>
            </a:r>
            <a:r>
              <a:rPr lang="fr-FR" sz="3200" dirty="0">
                <a:effectLst/>
                <a:latin typeface="Times New Roman" panose="02020603050405020304" pitchFamily="18" charset="0"/>
                <a:ea typeface="Times New Roman" panose="02020603050405020304" pitchFamily="18" charset="0"/>
              </a:rPr>
              <a:t>.</a:t>
            </a:r>
            <a:endParaRPr lang="fr-FR" sz="2000" dirty="0">
              <a:effectLst/>
              <a:latin typeface="Times New Roman" panose="02020603050405020304" pitchFamily="18" charset="0"/>
              <a:ea typeface="Times New Roman" panose="02020603050405020304" pitchFamily="18" charset="0"/>
            </a:endParaRPr>
          </a:p>
          <a:p>
            <a:pPr marL="898525" lvl="2" indent="-457200">
              <a:spcBef>
                <a:spcPts val="600"/>
              </a:spcBef>
              <a:spcAft>
                <a:spcPts val="600"/>
              </a:spcAft>
              <a:buFont typeface="+mj-lt"/>
              <a:buAutoNum type="arabicPeriod"/>
            </a:pPr>
            <a:r>
              <a:rPr lang="fr-FR" sz="2400" b="1" dirty="0"/>
              <a:t>Estimation des coûts directs et </a:t>
            </a:r>
            <a:r>
              <a:rPr lang="fr-FR" sz="2400" b="1" u="sng" dirty="0"/>
              <a:t>indirects</a:t>
            </a:r>
            <a:r>
              <a:rPr lang="fr-FR" sz="2400" b="1" dirty="0"/>
              <a:t> (suite) :</a:t>
            </a:r>
          </a:p>
          <a:p>
            <a:pPr marL="1355725" lvl="5" indent="-457200">
              <a:spcBef>
                <a:spcPts val="600"/>
              </a:spcBef>
              <a:buFont typeface="Wingdings" panose="05000000000000000000" pitchFamily="2" charset="2"/>
              <a:buChar char="è"/>
            </a:pPr>
            <a:r>
              <a:rPr lang="fr-FR" sz="2000" b="1" dirty="0"/>
              <a:t>coûts </a:t>
            </a:r>
            <a:r>
              <a:rPr lang="fr-FR" sz="2000" b="1" u="sng" dirty="0"/>
              <a:t>in</a:t>
            </a:r>
            <a:r>
              <a:rPr lang="fr-FR" sz="2000" b="1" dirty="0"/>
              <a:t>directs</a:t>
            </a:r>
          </a:p>
          <a:p>
            <a:pPr marL="1812925" lvl="6" indent="-457200">
              <a:spcBef>
                <a:spcPts val="600"/>
              </a:spcBef>
              <a:buFont typeface="Wingdings" panose="05000000000000000000" pitchFamily="2" charset="2"/>
              <a:buChar char="è"/>
            </a:pPr>
            <a:r>
              <a:rPr lang="fr-FR" sz="2000" dirty="0"/>
              <a:t>ressources inter-projets / multi-projets / </a:t>
            </a:r>
            <a:r>
              <a:rPr lang="fr-FR" sz="2000" i="1" dirty="0" err="1"/>
              <a:t>corporate</a:t>
            </a:r>
            <a:endParaRPr lang="fr-FR" sz="2000" i="1" dirty="0"/>
          </a:p>
          <a:p>
            <a:pPr marL="1812925" lvl="6" indent="-457200">
              <a:spcBef>
                <a:spcPts val="600"/>
              </a:spcBef>
              <a:buFont typeface="Wingdings" panose="05000000000000000000" pitchFamily="2" charset="2"/>
              <a:buChar char="è"/>
            </a:pPr>
            <a:r>
              <a:rPr lang="fr-FR" sz="2000" dirty="0"/>
              <a:t>% des frais généraux (</a:t>
            </a:r>
            <a:r>
              <a:rPr lang="fr-FR" sz="2000" b="1" u="sng" dirty="0"/>
              <a:t>charges fixes</a:t>
            </a:r>
            <a:r>
              <a:rPr lang="fr-FR" sz="2000" dirty="0"/>
              <a:t> : loyer locaux, véhicules, serveurs)</a:t>
            </a:r>
          </a:p>
          <a:p>
            <a:pPr marL="2270125" lvl="7" indent="-457200">
              <a:spcBef>
                <a:spcPts val="600"/>
              </a:spcBef>
              <a:buFont typeface="Wingdings" panose="05000000000000000000" pitchFamily="2" charset="2"/>
              <a:buChar char="è"/>
            </a:pPr>
            <a:r>
              <a:rPr lang="fr-FR" sz="2000" dirty="0"/>
              <a:t>en général, coût = % de l'amortissement</a:t>
            </a:r>
          </a:p>
          <a:p>
            <a:pPr marL="1812925" lvl="6" indent="-457200">
              <a:spcBef>
                <a:spcPts val="600"/>
              </a:spcBef>
              <a:buFont typeface="Wingdings" panose="05000000000000000000" pitchFamily="2" charset="2"/>
              <a:buChar char="è"/>
            </a:pPr>
            <a:r>
              <a:rPr lang="fr-FR" sz="2000" dirty="0"/>
              <a:t>frais de gestion</a:t>
            </a:r>
          </a:p>
          <a:p>
            <a:pPr marL="2270125" lvl="7" indent="-457200">
              <a:spcBef>
                <a:spcPts val="600"/>
              </a:spcBef>
              <a:buFont typeface="Wingdings" panose="05000000000000000000" pitchFamily="2" charset="2"/>
              <a:buChar char="è"/>
            </a:pPr>
            <a:r>
              <a:rPr lang="fr-FR" sz="2000" dirty="0"/>
              <a:t>services transverses (administration, outils de travail, maintenance,…)</a:t>
            </a:r>
          </a:p>
          <a:p>
            <a:pPr marL="2270125" lvl="7" indent="-457200">
              <a:spcBef>
                <a:spcPts val="600"/>
              </a:spcBef>
              <a:buFont typeface="Wingdings" panose="05000000000000000000" pitchFamily="2" charset="2"/>
              <a:buChar char="è"/>
            </a:pPr>
            <a:r>
              <a:rPr lang="fr-FR" sz="2000" dirty="0"/>
              <a:t>en général, ratio mis à disposition par la Direction</a:t>
            </a:r>
          </a:p>
          <a:p>
            <a:pPr marL="2270125" lvl="7" indent="-457200">
              <a:spcBef>
                <a:spcPts val="600"/>
              </a:spcBef>
              <a:buFont typeface="Wingdings" panose="05000000000000000000" pitchFamily="2" charset="2"/>
              <a:buChar char="è"/>
            </a:pPr>
            <a:r>
              <a:rPr lang="fr-FR" sz="2000" dirty="0"/>
              <a:t>inducteurs de coûts en % H/jr, % UO, ou Activ. </a:t>
            </a:r>
            <a:r>
              <a:rPr lang="fr-FR" sz="2000" dirty="0" err="1"/>
              <a:t>Bsd</a:t>
            </a:r>
            <a:r>
              <a:rPr lang="fr-FR" sz="2000" dirty="0"/>
              <a:t>. </a:t>
            </a:r>
            <a:r>
              <a:rPr lang="fr-FR" sz="2000" dirty="0" err="1"/>
              <a:t>Costing</a:t>
            </a:r>
            <a:endParaRPr lang="fr-FR" sz="2000" dirty="0"/>
          </a:p>
          <a:p>
            <a:pPr marL="1812925" lvl="6" indent="-457200">
              <a:spcBef>
                <a:spcPts val="600"/>
              </a:spcBef>
              <a:buFont typeface="Wingdings" panose="05000000000000000000" pitchFamily="2" charset="2"/>
              <a:buChar char="è"/>
            </a:pPr>
            <a:r>
              <a:rPr lang="fr-FR" sz="2000" dirty="0"/>
              <a:t>réserves, provisions pour risques (env. 15%)</a:t>
            </a:r>
          </a:p>
          <a:p>
            <a:pPr marL="2270125" lvl="7" indent="-457200">
              <a:spcBef>
                <a:spcPts val="600"/>
              </a:spcBef>
              <a:buFont typeface="Wingdings" panose="05000000000000000000" pitchFamily="2" charset="2"/>
              <a:buChar char="è"/>
            </a:pPr>
            <a:r>
              <a:rPr lang="fr-FR" sz="2000" dirty="0"/>
              <a:t>pénalités de retard (entre 2% et 5%)</a:t>
            </a:r>
          </a:p>
          <a:p>
            <a:pPr marL="2270125" lvl="7" indent="-457200">
              <a:spcBef>
                <a:spcPts val="600"/>
              </a:spcBef>
              <a:buFont typeface="Wingdings" panose="05000000000000000000" pitchFamily="2" charset="2"/>
              <a:buChar char="è"/>
            </a:pPr>
            <a:r>
              <a:rPr lang="fr-FR" sz="2000" dirty="0"/>
              <a:t>démissions, absences, mutations</a:t>
            </a:r>
          </a:p>
          <a:p>
            <a:pPr marL="2727325" lvl="8" indent="-457200">
              <a:spcBef>
                <a:spcPts val="600"/>
              </a:spcBef>
              <a:buFont typeface="Wingdings" panose="05000000000000000000" pitchFamily="2" charset="2"/>
              <a:buChar char="è"/>
            </a:pPr>
            <a:r>
              <a:rPr lang="fr-FR" sz="2000" dirty="0"/>
              <a:t>selon profil, coût rupture </a:t>
            </a:r>
            <a:r>
              <a:rPr lang="fr-FR" sz="2000" dirty="0" err="1"/>
              <a:t>conv</a:t>
            </a:r>
            <a:r>
              <a:rPr lang="fr-FR" sz="2000" dirty="0"/>
              <a:t>., prov congés, embauche</a:t>
            </a:r>
          </a:p>
          <a:p>
            <a:pPr marL="2270125" lvl="7" indent="-457200">
              <a:spcBef>
                <a:spcPts val="600"/>
              </a:spcBef>
              <a:buFont typeface="Wingdings" panose="05000000000000000000" pitchFamily="2" charset="2"/>
              <a:buChar char="è"/>
            </a:pPr>
            <a:r>
              <a:rPr lang="fr-FR" sz="2000" dirty="0"/>
              <a:t>besoins "soudains" (imprévus) de formation</a:t>
            </a:r>
          </a:p>
          <a:p>
            <a:pPr marL="1812925" lvl="7">
              <a:spcBef>
                <a:spcPts val="600"/>
              </a:spcBef>
            </a:pPr>
            <a:endParaRPr lang="fr-FR" sz="2000" b="1" dirty="0"/>
          </a:p>
          <a:p>
            <a:pPr marL="1812925" lvl="7">
              <a:spcBef>
                <a:spcPts val="600"/>
              </a:spcBef>
            </a:pPr>
            <a:r>
              <a:rPr lang="fr-FR" sz="2000" dirty="0"/>
              <a:t> </a:t>
            </a:r>
          </a:p>
        </p:txBody>
      </p:sp>
    </p:spTree>
    <p:extLst>
      <p:ext uri="{BB962C8B-B14F-4D97-AF65-F5344CB8AC3E}">
        <p14:creationId xmlns:p14="http://schemas.microsoft.com/office/powerpoint/2010/main" val="186292560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9">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6F59-5430-25F7-FE24-A0ACF23EEC9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3C6B29F-266B-71DA-6C00-6BBFE8C70D94}"/>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9C9CFA8D-C54F-064D-3FEC-3E552BBD3637}"/>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11DD968C-2BAE-E0A7-42FA-41C49712C48E}"/>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66154913-68F1-8EFA-4E54-678E0A2A19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8AFACD3D-EDBE-69B4-9C8B-E90676B14578}"/>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96F8FCED-D1F5-F257-F95C-EF75AEADF728}"/>
              </a:ext>
            </a:extLst>
          </p:cNvPr>
          <p:cNvSpPr txBox="1"/>
          <p:nvPr/>
        </p:nvSpPr>
        <p:spPr>
          <a:xfrm>
            <a:off x="0" y="620486"/>
            <a:ext cx="9906000" cy="6494085"/>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Structure d'un budget prévisionnel</a:t>
            </a:r>
            <a:r>
              <a:rPr lang="fr-FR" sz="3200" dirty="0">
                <a:effectLst/>
                <a:latin typeface="Times New Roman" panose="02020603050405020304" pitchFamily="18" charset="0"/>
                <a:ea typeface="Times New Roman" panose="02020603050405020304" pitchFamily="18" charset="0"/>
              </a:rPr>
              <a:t>.</a:t>
            </a:r>
            <a:endParaRPr lang="fr-FR" sz="2000" dirty="0">
              <a:effectLst/>
              <a:latin typeface="Times New Roman" panose="02020603050405020304" pitchFamily="18" charset="0"/>
              <a:ea typeface="Times New Roman" panose="02020603050405020304" pitchFamily="18" charset="0"/>
            </a:endParaRPr>
          </a:p>
          <a:p>
            <a:pPr marL="898525" lvl="2" indent="-457200">
              <a:spcBef>
                <a:spcPts val="600"/>
              </a:spcBef>
              <a:spcAft>
                <a:spcPts val="600"/>
              </a:spcAft>
              <a:buFont typeface="+mj-lt"/>
              <a:buAutoNum type="arabicPeriod"/>
            </a:pPr>
            <a:r>
              <a:rPr lang="fr-FR" sz="2400" b="1" dirty="0"/>
              <a:t>Découpage du projet :</a:t>
            </a:r>
          </a:p>
          <a:p>
            <a:pPr marL="1355725" lvl="5" indent="-457200">
              <a:spcBef>
                <a:spcPts val="600"/>
              </a:spcBef>
              <a:buFont typeface="Wingdings" panose="05000000000000000000" pitchFamily="2" charset="2"/>
              <a:buChar char="è"/>
            </a:pPr>
            <a:r>
              <a:rPr lang="fr-FR" sz="2000" b="1" dirty="0"/>
              <a:t>WBS</a:t>
            </a:r>
          </a:p>
          <a:p>
            <a:pPr marL="1812925" lvl="6" indent="-457200">
              <a:spcBef>
                <a:spcPts val="600"/>
              </a:spcBef>
              <a:buFont typeface="Wingdings" panose="05000000000000000000" pitchFamily="2" charset="2"/>
              <a:buChar char="è"/>
            </a:pPr>
            <a:r>
              <a:rPr lang="fr-FR" sz="2000" dirty="0"/>
              <a:t>phasage, bloc, agences, équipes, tranches</a:t>
            </a:r>
            <a:endParaRPr lang="fr-FR" sz="2000" i="1" dirty="0"/>
          </a:p>
          <a:p>
            <a:pPr marL="1812925" lvl="6" indent="-457200">
              <a:spcBef>
                <a:spcPts val="600"/>
              </a:spcBef>
              <a:buFont typeface="Wingdings" panose="05000000000000000000" pitchFamily="2" charset="2"/>
              <a:buChar char="è"/>
            </a:pPr>
            <a:r>
              <a:rPr lang="fr-FR" sz="2000" dirty="0"/>
              <a:t>granularité de + en + précises</a:t>
            </a:r>
          </a:p>
          <a:p>
            <a:pPr marL="1812925" lvl="6" indent="-457200">
              <a:spcBef>
                <a:spcPts val="600"/>
              </a:spcBef>
              <a:buFont typeface="Wingdings" panose="05000000000000000000" pitchFamily="2" charset="2"/>
              <a:buChar char="è"/>
            </a:pPr>
            <a:r>
              <a:rPr lang="fr-FR" sz="2000" dirty="0"/>
              <a:t>besoins (coûts) en RH (internes ou externes)</a:t>
            </a:r>
          </a:p>
          <a:p>
            <a:pPr marL="1812925" lvl="6" indent="-457200">
              <a:spcBef>
                <a:spcPts val="600"/>
              </a:spcBef>
              <a:buFont typeface="Wingdings" panose="05000000000000000000" pitchFamily="2" charset="2"/>
              <a:buChar char="è"/>
            </a:pPr>
            <a:r>
              <a:rPr lang="fr-FR" sz="2000" dirty="0"/>
              <a:t>coûts matériels		</a:t>
            </a:r>
            <a:r>
              <a:rPr lang="fr-FR" sz="2000" dirty="0" err="1"/>
              <a:t>CapEx</a:t>
            </a:r>
            <a:r>
              <a:rPr lang="fr-FR" sz="2000" dirty="0"/>
              <a:t> / </a:t>
            </a:r>
            <a:r>
              <a:rPr lang="fr-FR" sz="2000" dirty="0" err="1"/>
              <a:t>OpEx</a:t>
            </a:r>
            <a:endParaRPr lang="fr-FR" sz="2000" dirty="0"/>
          </a:p>
          <a:p>
            <a:pPr marL="1812925" lvl="6" indent="-457200">
              <a:spcBef>
                <a:spcPts val="600"/>
              </a:spcBef>
              <a:buFont typeface="Wingdings" panose="05000000000000000000" pitchFamily="2" charset="2"/>
              <a:buChar char="è"/>
            </a:pPr>
            <a:r>
              <a:rPr lang="fr-FR" sz="2000" dirty="0"/>
              <a:t>durée par tâche</a:t>
            </a:r>
          </a:p>
          <a:p>
            <a:pPr marL="2270125" lvl="7" indent="-457200">
              <a:spcBef>
                <a:spcPts val="600"/>
              </a:spcBef>
              <a:buFont typeface="Wingdings" panose="05000000000000000000" pitchFamily="2" charset="2"/>
              <a:buChar char="è"/>
            </a:pPr>
            <a:r>
              <a:rPr lang="fr-FR" sz="2000" b="1" u="sng" dirty="0"/>
              <a:t>Attention !!! DIFFÉRENCIER DURÉE CALENDAIRE ET DURÉE EN H.JRS</a:t>
            </a:r>
            <a:endParaRPr lang="fr-FR" sz="2000" dirty="0"/>
          </a:p>
          <a:p>
            <a:pPr marL="1812925" lvl="6" indent="-457200">
              <a:spcBef>
                <a:spcPts val="600"/>
              </a:spcBef>
              <a:buFont typeface="Wingdings" panose="05000000000000000000" pitchFamily="2" charset="2"/>
              <a:buChar char="è"/>
            </a:pPr>
            <a:r>
              <a:rPr lang="fr-FR" sz="2000" dirty="0"/>
              <a:t>s'appuyer (demander si besoin) sur les standards de l'organisation</a:t>
            </a:r>
          </a:p>
          <a:p>
            <a:pPr marL="2270125" lvl="7" indent="-457200">
              <a:spcBef>
                <a:spcPts val="600"/>
              </a:spcBef>
              <a:buFont typeface="Wingdings" panose="05000000000000000000" pitchFamily="2" charset="2"/>
              <a:buChar char="è"/>
            </a:pPr>
            <a:r>
              <a:rPr lang="fr-FR" sz="2000" dirty="0"/>
              <a:t>documents ou fichiers d'estimation</a:t>
            </a:r>
          </a:p>
          <a:p>
            <a:pPr marL="2270125" lvl="7" indent="-457200">
              <a:spcBef>
                <a:spcPts val="600"/>
              </a:spcBef>
              <a:buFont typeface="Wingdings" panose="05000000000000000000" pitchFamily="2" charset="2"/>
              <a:buChar char="è"/>
            </a:pPr>
            <a:r>
              <a:rPr lang="fr-FR" sz="2000" dirty="0"/>
              <a:t>données historiques, taux d'attrition RH, etc.</a:t>
            </a:r>
          </a:p>
          <a:p>
            <a:pPr marL="2270125" lvl="7" indent="-457200">
              <a:spcBef>
                <a:spcPts val="600"/>
              </a:spcBef>
              <a:buFont typeface="Wingdings" panose="05000000000000000000" pitchFamily="2" charset="2"/>
              <a:buChar char="è"/>
            </a:pPr>
            <a:r>
              <a:rPr lang="fr-FR" sz="2000" dirty="0"/>
              <a:t>pratiques en matière de RSKM</a:t>
            </a:r>
          </a:p>
          <a:p>
            <a:pPr marL="2270125" lvl="7" indent="-457200" algn="r">
              <a:spcBef>
                <a:spcPts val="600"/>
              </a:spcBef>
              <a:buFont typeface="Wingdings" panose="05000000000000000000" pitchFamily="2" charset="2"/>
              <a:buChar char="è"/>
            </a:pPr>
            <a:r>
              <a:rPr lang="fr-FR" sz="2000" dirty="0"/>
              <a:t>NOTA : niveau de maturité de l'"</a:t>
            </a:r>
            <a:r>
              <a:rPr lang="fr-FR" sz="2000" i="1" dirty="0"/>
              <a:t>organisation</a:t>
            </a:r>
            <a:r>
              <a:rPr lang="fr-FR" sz="2000" dirty="0"/>
              <a:t>"		</a:t>
            </a:r>
          </a:p>
          <a:p>
            <a:pPr marL="1812925" lvl="7">
              <a:spcBef>
                <a:spcPts val="600"/>
              </a:spcBef>
            </a:pPr>
            <a:endParaRPr lang="fr-FR" sz="2000" b="1" dirty="0"/>
          </a:p>
          <a:p>
            <a:pPr marL="1812925" lvl="7">
              <a:spcBef>
                <a:spcPts val="600"/>
              </a:spcBef>
            </a:pPr>
            <a:r>
              <a:rPr lang="fr-FR" sz="2000" dirty="0"/>
              <a:t> </a:t>
            </a:r>
          </a:p>
        </p:txBody>
      </p:sp>
    </p:spTree>
    <p:extLst>
      <p:ext uri="{BB962C8B-B14F-4D97-AF65-F5344CB8AC3E}">
        <p14:creationId xmlns:p14="http://schemas.microsoft.com/office/powerpoint/2010/main" val="280316729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9">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0F5C5-2F45-3722-EC67-B54068881F8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C73403E-EDAE-50C4-87FA-913DEC4541FA}"/>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203CC255-C013-3E0C-3258-3E375C09EAD6}"/>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2F111F6C-FA46-8776-1C31-EC54470808E9}"/>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DE340BF6-AD8C-C0DD-2D5A-6CA4451224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74FF233A-5C45-1CE9-C946-F21B99007F45}"/>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DB0C38E0-AC52-24EB-E9F6-1AB4949EA319}"/>
              </a:ext>
            </a:extLst>
          </p:cNvPr>
          <p:cNvSpPr txBox="1"/>
          <p:nvPr/>
        </p:nvSpPr>
        <p:spPr>
          <a:xfrm>
            <a:off x="0" y="620486"/>
            <a:ext cx="9906000" cy="6032421"/>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Structure d'un budget prévisionnel</a:t>
            </a:r>
            <a:r>
              <a:rPr lang="fr-FR" sz="3200" dirty="0">
                <a:effectLst/>
                <a:latin typeface="Times New Roman" panose="02020603050405020304" pitchFamily="18" charset="0"/>
                <a:ea typeface="Times New Roman" panose="02020603050405020304" pitchFamily="18" charset="0"/>
              </a:rPr>
              <a:t>.</a:t>
            </a:r>
            <a:endParaRPr lang="fr-FR" sz="2000" dirty="0">
              <a:effectLst/>
              <a:latin typeface="Times New Roman" panose="02020603050405020304" pitchFamily="18" charset="0"/>
              <a:ea typeface="Times New Roman" panose="02020603050405020304" pitchFamily="18" charset="0"/>
            </a:endParaRPr>
          </a:p>
          <a:p>
            <a:pPr marL="898525" lvl="2" indent="-457200">
              <a:spcBef>
                <a:spcPts val="600"/>
              </a:spcBef>
              <a:spcAft>
                <a:spcPts val="600"/>
              </a:spcAft>
              <a:buFont typeface="+mj-lt"/>
              <a:buAutoNum type="arabicPeriod"/>
            </a:pPr>
            <a:r>
              <a:rPr lang="fr-FR" sz="2400" b="1" dirty="0"/>
              <a:t>Découpage du projet (</a:t>
            </a:r>
            <a:r>
              <a:rPr lang="fr-FR" sz="2000" b="1" dirty="0"/>
              <a:t>WBS)</a:t>
            </a:r>
          </a:p>
          <a:p>
            <a:pPr marL="1812925" lvl="6" indent="-457200">
              <a:spcBef>
                <a:spcPts val="600"/>
              </a:spcBef>
              <a:buFont typeface="Wingdings" panose="05000000000000000000" pitchFamily="2" charset="2"/>
              <a:buChar char="è"/>
            </a:pPr>
            <a:r>
              <a:rPr lang="fr-FR" sz="2000" dirty="0"/>
              <a:t>la </a:t>
            </a:r>
            <a:r>
              <a:rPr lang="fr-FR" sz="2000" u="sng" dirty="0"/>
              <a:t>présentation</a:t>
            </a:r>
            <a:r>
              <a:rPr lang="fr-FR" sz="2000" dirty="0"/>
              <a:t> du WBS va dépendre de :</a:t>
            </a:r>
          </a:p>
          <a:p>
            <a:pPr marL="2155825" lvl="7" indent="-342900">
              <a:spcBef>
                <a:spcPts val="600"/>
              </a:spcBef>
              <a:buFont typeface="Wingdings" panose="05000000000000000000" pitchFamily="2" charset="2"/>
              <a:buChar char="§"/>
            </a:pPr>
            <a:r>
              <a:rPr lang="fr-FR" sz="2000" dirty="0"/>
              <a:t>au client ou à la Direction, présentation </a:t>
            </a:r>
            <a:r>
              <a:rPr lang="fr-FR" sz="2000" i="1" dirty="0"/>
              <a:t>macro</a:t>
            </a:r>
            <a:r>
              <a:rPr lang="fr-FR" sz="2000" dirty="0"/>
              <a:t> : 1 à 2 niveaux</a:t>
            </a:r>
          </a:p>
          <a:p>
            <a:pPr marL="2155825" lvl="7" indent="-342900">
              <a:spcBef>
                <a:spcPts val="600"/>
              </a:spcBef>
              <a:buFont typeface="Wingdings" panose="05000000000000000000" pitchFamily="2" charset="2"/>
              <a:buChar char="§"/>
            </a:pPr>
            <a:r>
              <a:rPr lang="fr-FR" sz="2000" dirty="0"/>
              <a:t>à l'équipe, aux auditeurs, présentation détaillée : x niveaux</a:t>
            </a:r>
          </a:p>
          <a:p>
            <a:pPr marL="1812925" lvl="6" indent="-457200">
              <a:spcBef>
                <a:spcPts val="600"/>
              </a:spcBef>
              <a:buFont typeface="Wingdings" panose="05000000000000000000" pitchFamily="2" charset="2"/>
              <a:buChar char="è"/>
            </a:pPr>
            <a:endParaRPr lang="fr-FR" sz="1000" dirty="0"/>
          </a:p>
          <a:p>
            <a:pPr marL="1812925" lvl="6" indent="-457200">
              <a:spcBef>
                <a:spcPts val="600"/>
              </a:spcBef>
              <a:buFont typeface="Wingdings" panose="05000000000000000000" pitchFamily="2" charset="2"/>
              <a:buChar char="è"/>
            </a:pPr>
            <a:r>
              <a:rPr lang="fr-FR" sz="2000" dirty="0"/>
              <a:t>différencier </a:t>
            </a:r>
            <a:r>
              <a:rPr lang="fr-FR" sz="2000" i="1" dirty="0"/>
              <a:t>jalon </a:t>
            </a:r>
            <a:r>
              <a:rPr lang="fr-FR" sz="2000" dirty="0"/>
              <a:t>et </a:t>
            </a:r>
            <a:r>
              <a:rPr lang="fr-FR" sz="2000" i="1" dirty="0"/>
              <a:t>phase</a:t>
            </a:r>
            <a:r>
              <a:rPr lang="fr-FR" sz="2000" dirty="0"/>
              <a:t>, durée d'une tâche et durée </a:t>
            </a:r>
            <a:r>
              <a:rPr lang="fr-FR" sz="2000" u="sng" dirty="0"/>
              <a:t>calendaire</a:t>
            </a:r>
            <a:r>
              <a:rPr lang="fr-FR" sz="2000" dirty="0"/>
              <a:t> </a:t>
            </a:r>
          </a:p>
          <a:p>
            <a:pPr marL="1812925" lvl="6" indent="-457200">
              <a:spcBef>
                <a:spcPts val="600"/>
              </a:spcBef>
              <a:buFont typeface="Wingdings" panose="05000000000000000000" pitchFamily="2" charset="2"/>
              <a:buChar char="è"/>
            </a:pPr>
            <a:endParaRPr lang="fr-FR" sz="1000" dirty="0"/>
          </a:p>
          <a:p>
            <a:pPr marL="1812925" lvl="6" indent="-457200">
              <a:spcBef>
                <a:spcPts val="600"/>
              </a:spcBef>
              <a:buFont typeface="Wingdings" panose="05000000000000000000" pitchFamily="2" charset="2"/>
              <a:buChar char="è"/>
            </a:pPr>
            <a:r>
              <a:rPr lang="fr-FR" sz="2000" dirty="0"/>
              <a:t>la granularité du phasage va dépendre de :</a:t>
            </a:r>
          </a:p>
          <a:p>
            <a:pPr marL="2270125" lvl="7" indent="-457200">
              <a:spcBef>
                <a:spcPts val="600"/>
              </a:spcBef>
              <a:buFont typeface="Wingdings" panose="05000000000000000000" pitchFamily="2" charset="2"/>
              <a:buChar char="§"/>
            </a:pPr>
            <a:r>
              <a:rPr lang="fr-FR" sz="2000" dirty="0"/>
              <a:t>le temps dont vous disposez</a:t>
            </a:r>
          </a:p>
          <a:p>
            <a:pPr marL="2270125" lvl="7" indent="-457200">
              <a:spcBef>
                <a:spcPts val="600"/>
              </a:spcBef>
              <a:buFont typeface="Wingdings" panose="05000000000000000000" pitchFamily="2" charset="2"/>
              <a:buChar char="§"/>
            </a:pPr>
            <a:r>
              <a:rPr lang="fr-FR" sz="2000" dirty="0"/>
              <a:t>votre capacité à anticiper les coûts (temps RH, achats, charges indirectes,…)</a:t>
            </a:r>
          </a:p>
          <a:p>
            <a:pPr marL="1812925" lvl="7">
              <a:spcBef>
                <a:spcPts val="600"/>
              </a:spcBef>
            </a:pPr>
            <a:endParaRPr lang="fr-FR" sz="1000" dirty="0"/>
          </a:p>
          <a:p>
            <a:pPr marL="898525" lvl="4" indent="-457200">
              <a:spcBef>
                <a:spcPts val="600"/>
              </a:spcBef>
              <a:buFont typeface="Wingdings" panose="05000000000000000000" pitchFamily="2" charset="2"/>
              <a:buChar char="è"/>
            </a:pPr>
            <a:r>
              <a:rPr lang="fr-FR" sz="2000" dirty="0"/>
              <a:t>Le WBS et sa décomposition en </a:t>
            </a:r>
            <a:r>
              <a:rPr lang="fr-FR" sz="2000" b="1" dirty="0"/>
              <a:t>budget prévisionnel </a:t>
            </a:r>
            <a:r>
              <a:rPr lang="fr-FR" sz="2000" dirty="0"/>
              <a:t>dépend du </a:t>
            </a:r>
            <a:r>
              <a:rPr lang="fr-FR" sz="2000" b="1" dirty="0"/>
              <a:t>niveau de maturité</a:t>
            </a:r>
            <a:r>
              <a:rPr lang="fr-FR" sz="2000" dirty="0"/>
              <a:t> de l'organisme : type CMMI, ISO, etc.</a:t>
            </a:r>
          </a:p>
          <a:p>
            <a:pPr marL="441325" lvl="4">
              <a:spcBef>
                <a:spcPts val="600"/>
              </a:spcBef>
            </a:pPr>
            <a:r>
              <a:rPr lang="fr-FR" sz="2000" dirty="0"/>
              <a:t> </a:t>
            </a:r>
          </a:p>
        </p:txBody>
      </p:sp>
    </p:spTree>
    <p:extLst>
      <p:ext uri="{BB962C8B-B14F-4D97-AF65-F5344CB8AC3E}">
        <p14:creationId xmlns:p14="http://schemas.microsoft.com/office/powerpoint/2010/main" val="245681290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FCD157-2B71-41A2-B1F8-FF52BE5C7DF8}"/>
              </a:ext>
            </a:extLst>
          </p:cNvPr>
          <p:cNvSpPr>
            <a:spLocks noGrp="1"/>
          </p:cNvSpPr>
          <p:nvPr>
            <p:ph type="title"/>
          </p:nvPr>
        </p:nvSpPr>
        <p:spPr/>
        <p:txBody>
          <a:bodyPr/>
          <a:lstStyle/>
          <a:p>
            <a:r>
              <a:rPr lang="fr-FR" dirty="0"/>
              <a:t>Cycle organisationnel CMMI</a:t>
            </a:r>
          </a:p>
        </p:txBody>
      </p:sp>
      <p:sp>
        <p:nvSpPr>
          <p:cNvPr id="3" name="Décagone 2">
            <a:extLst>
              <a:ext uri="{FF2B5EF4-FFF2-40B4-BE49-F238E27FC236}">
                <a16:creationId xmlns:a16="http://schemas.microsoft.com/office/drawing/2014/main" id="{C7821E5B-0E20-4D2C-A579-B42D51715031}"/>
              </a:ext>
            </a:extLst>
          </p:cNvPr>
          <p:cNvSpPr/>
          <p:nvPr/>
        </p:nvSpPr>
        <p:spPr>
          <a:xfrm>
            <a:off x="3624943" y="2100943"/>
            <a:ext cx="2656114" cy="2656114"/>
          </a:xfrm>
          <a:prstGeom prst="decagon">
            <a:avLst/>
          </a:prstGeom>
          <a:no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8AA19D79-8629-4952-B70C-50DCDC9BAECD}"/>
              </a:ext>
            </a:extLst>
          </p:cNvPr>
          <p:cNvSpPr txBox="1"/>
          <p:nvPr/>
        </p:nvSpPr>
        <p:spPr>
          <a:xfrm>
            <a:off x="4288731" y="1242245"/>
            <a:ext cx="1181029" cy="415498"/>
          </a:xfrm>
          <a:prstGeom prst="rect">
            <a:avLst/>
          </a:prstGeom>
          <a:noFill/>
        </p:spPr>
        <p:txBody>
          <a:bodyPr wrap="none" rtlCol="0">
            <a:spAutoFit/>
          </a:bodyPr>
          <a:lstStyle/>
          <a:p>
            <a:r>
              <a:rPr lang="fr-FR" sz="2100" b="1" dirty="0"/>
              <a:t>Directive</a:t>
            </a:r>
          </a:p>
        </p:txBody>
      </p:sp>
      <p:sp>
        <p:nvSpPr>
          <p:cNvPr id="6" name="ZoneTexte 5">
            <a:extLst>
              <a:ext uri="{FF2B5EF4-FFF2-40B4-BE49-F238E27FC236}">
                <a16:creationId xmlns:a16="http://schemas.microsoft.com/office/drawing/2014/main" id="{AE65B8C6-4253-4F9D-8C2A-06C7A1509955}"/>
              </a:ext>
            </a:extLst>
          </p:cNvPr>
          <p:cNvSpPr txBox="1"/>
          <p:nvPr/>
        </p:nvSpPr>
        <p:spPr>
          <a:xfrm>
            <a:off x="5856274" y="1657743"/>
            <a:ext cx="2191626" cy="415498"/>
          </a:xfrm>
          <a:prstGeom prst="rect">
            <a:avLst/>
          </a:prstGeom>
          <a:noFill/>
        </p:spPr>
        <p:txBody>
          <a:bodyPr wrap="none" rtlCol="0">
            <a:spAutoFit/>
          </a:bodyPr>
          <a:lstStyle/>
          <a:p>
            <a:r>
              <a:rPr lang="fr-FR" sz="2100" b="1" dirty="0">
                <a:hlinkClick r:id="" action="ppaction://noaction"/>
              </a:rPr>
              <a:t>Spécifier l'objectif</a:t>
            </a:r>
            <a:endParaRPr lang="fr-FR" sz="2100" b="1" dirty="0"/>
          </a:p>
        </p:txBody>
      </p:sp>
      <p:sp>
        <p:nvSpPr>
          <p:cNvPr id="7" name="ZoneTexte 6">
            <a:extLst>
              <a:ext uri="{FF2B5EF4-FFF2-40B4-BE49-F238E27FC236}">
                <a16:creationId xmlns:a16="http://schemas.microsoft.com/office/drawing/2014/main" id="{8F8B58B3-B1D4-4346-800B-E06C3FB490C0}"/>
              </a:ext>
            </a:extLst>
          </p:cNvPr>
          <p:cNvSpPr txBox="1"/>
          <p:nvPr/>
        </p:nvSpPr>
        <p:spPr>
          <a:xfrm>
            <a:off x="6422331" y="2637457"/>
            <a:ext cx="1420838" cy="415498"/>
          </a:xfrm>
          <a:prstGeom prst="rect">
            <a:avLst/>
          </a:prstGeom>
          <a:noFill/>
        </p:spPr>
        <p:txBody>
          <a:bodyPr wrap="none" rtlCol="0">
            <a:spAutoFit/>
          </a:bodyPr>
          <a:lstStyle/>
          <a:p>
            <a:r>
              <a:rPr lang="fr-FR" sz="2100" b="1" dirty="0"/>
              <a:t>Ressources</a:t>
            </a:r>
          </a:p>
        </p:txBody>
      </p:sp>
      <p:sp>
        <p:nvSpPr>
          <p:cNvPr id="8" name="ZoneTexte 7">
            <a:extLst>
              <a:ext uri="{FF2B5EF4-FFF2-40B4-BE49-F238E27FC236}">
                <a16:creationId xmlns:a16="http://schemas.microsoft.com/office/drawing/2014/main" id="{A1E6707F-C78E-4083-95A0-39708A577730}"/>
              </a:ext>
            </a:extLst>
          </p:cNvPr>
          <p:cNvSpPr txBox="1"/>
          <p:nvPr/>
        </p:nvSpPr>
        <p:spPr>
          <a:xfrm>
            <a:off x="6520303" y="3597297"/>
            <a:ext cx="1924694" cy="415498"/>
          </a:xfrm>
          <a:prstGeom prst="rect">
            <a:avLst/>
          </a:prstGeom>
          <a:noFill/>
        </p:spPr>
        <p:txBody>
          <a:bodyPr wrap="none" rtlCol="0">
            <a:spAutoFit/>
          </a:bodyPr>
          <a:lstStyle/>
          <a:p>
            <a:r>
              <a:rPr lang="fr-FR" sz="2100" b="1" dirty="0"/>
              <a:t>Responsabilités</a:t>
            </a:r>
          </a:p>
        </p:txBody>
      </p:sp>
      <p:sp>
        <p:nvSpPr>
          <p:cNvPr id="9" name="ZoneTexte 8">
            <a:extLst>
              <a:ext uri="{FF2B5EF4-FFF2-40B4-BE49-F238E27FC236}">
                <a16:creationId xmlns:a16="http://schemas.microsoft.com/office/drawing/2014/main" id="{64E6D28A-A8DF-4768-98FD-753DC903DE5B}"/>
              </a:ext>
            </a:extLst>
          </p:cNvPr>
          <p:cNvSpPr txBox="1"/>
          <p:nvPr/>
        </p:nvSpPr>
        <p:spPr>
          <a:xfrm>
            <a:off x="5856274" y="4613730"/>
            <a:ext cx="1461426" cy="415498"/>
          </a:xfrm>
          <a:prstGeom prst="rect">
            <a:avLst/>
          </a:prstGeom>
          <a:noFill/>
        </p:spPr>
        <p:txBody>
          <a:bodyPr wrap="none" rtlCol="0">
            <a:spAutoFit/>
          </a:bodyPr>
          <a:lstStyle/>
          <a:p>
            <a:r>
              <a:rPr lang="fr-FR" sz="2100" b="1" dirty="0"/>
              <a:t>Savoir-faire</a:t>
            </a:r>
          </a:p>
        </p:txBody>
      </p:sp>
      <p:sp>
        <p:nvSpPr>
          <p:cNvPr id="10" name="ZoneTexte 9">
            <a:extLst>
              <a:ext uri="{FF2B5EF4-FFF2-40B4-BE49-F238E27FC236}">
                <a16:creationId xmlns:a16="http://schemas.microsoft.com/office/drawing/2014/main" id="{DD600D51-5659-4FC6-BDC9-B754D3780A61}"/>
              </a:ext>
            </a:extLst>
          </p:cNvPr>
          <p:cNvSpPr txBox="1"/>
          <p:nvPr/>
        </p:nvSpPr>
        <p:spPr>
          <a:xfrm>
            <a:off x="4376198" y="5029228"/>
            <a:ext cx="1453347" cy="415498"/>
          </a:xfrm>
          <a:prstGeom prst="rect">
            <a:avLst/>
          </a:prstGeom>
          <a:noFill/>
        </p:spPr>
        <p:txBody>
          <a:bodyPr wrap="none" rtlCol="0">
            <a:spAutoFit/>
          </a:bodyPr>
          <a:lstStyle/>
          <a:p>
            <a:r>
              <a:rPr lang="fr-FR" sz="2100" b="1" dirty="0"/>
              <a:t>Documents</a:t>
            </a:r>
          </a:p>
        </p:txBody>
      </p:sp>
      <p:sp>
        <p:nvSpPr>
          <p:cNvPr id="11" name="ZoneTexte 10">
            <a:extLst>
              <a:ext uri="{FF2B5EF4-FFF2-40B4-BE49-F238E27FC236}">
                <a16:creationId xmlns:a16="http://schemas.microsoft.com/office/drawing/2014/main" id="{32CB32EC-51CB-4992-B624-EC3075DED40B}"/>
              </a:ext>
            </a:extLst>
          </p:cNvPr>
          <p:cNvSpPr txBox="1"/>
          <p:nvPr/>
        </p:nvSpPr>
        <p:spPr>
          <a:xfrm>
            <a:off x="2171100" y="4477645"/>
            <a:ext cx="2161554" cy="415498"/>
          </a:xfrm>
          <a:prstGeom prst="rect">
            <a:avLst/>
          </a:prstGeom>
          <a:noFill/>
        </p:spPr>
        <p:txBody>
          <a:bodyPr wrap="none" rtlCol="0">
            <a:spAutoFit/>
          </a:bodyPr>
          <a:lstStyle/>
          <a:p>
            <a:r>
              <a:rPr lang="fr-FR" sz="2100" b="1" dirty="0"/>
              <a:t>Parties-prenantes</a:t>
            </a:r>
          </a:p>
        </p:txBody>
      </p:sp>
      <p:sp>
        <p:nvSpPr>
          <p:cNvPr id="12" name="ZoneTexte 11">
            <a:extLst>
              <a:ext uri="{FF2B5EF4-FFF2-40B4-BE49-F238E27FC236}">
                <a16:creationId xmlns:a16="http://schemas.microsoft.com/office/drawing/2014/main" id="{0F257B7E-02F9-4EA2-9E49-BBBE6BA295C2}"/>
              </a:ext>
            </a:extLst>
          </p:cNvPr>
          <p:cNvSpPr txBox="1"/>
          <p:nvPr/>
        </p:nvSpPr>
        <p:spPr>
          <a:xfrm>
            <a:off x="1134296" y="3597297"/>
            <a:ext cx="2349682" cy="415498"/>
          </a:xfrm>
          <a:prstGeom prst="rect">
            <a:avLst/>
          </a:prstGeom>
          <a:noFill/>
        </p:spPr>
        <p:txBody>
          <a:bodyPr wrap="none" rtlCol="0">
            <a:spAutoFit/>
          </a:bodyPr>
          <a:lstStyle/>
          <a:p>
            <a:r>
              <a:rPr lang="fr-FR" sz="2100" b="1" dirty="0"/>
              <a:t>Suivi d'avancement</a:t>
            </a:r>
          </a:p>
        </p:txBody>
      </p:sp>
      <p:sp>
        <p:nvSpPr>
          <p:cNvPr id="13" name="ZoneTexte 12">
            <a:extLst>
              <a:ext uri="{FF2B5EF4-FFF2-40B4-BE49-F238E27FC236}">
                <a16:creationId xmlns:a16="http://schemas.microsoft.com/office/drawing/2014/main" id="{D94CEDD3-BB3E-43DE-ACF0-E33B59134CC2}"/>
              </a:ext>
            </a:extLst>
          </p:cNvPr>
          <p:cNvSpPr txBox="1"/>
          <p:nvPr/>
        </p:nvSpPr>
        <p:spPr>
          <a:xfrm>
            <a:off x="1507312" y="2637457"/>
            <a:ext cx="1352614" cy="415498"/>
          </a:xfrm>
          <a:prstGeom prst="rect">
            <a:avLst/>
          </a:prstGeom>
          <a:noFill/>
        </p:spPr>
        <p:txBody>
          <a:bodyPr wrap="none" rtlCol="0">
            <a:spAutoFit/>
          </a:bodyPr>
          <a:lstStyle/>
          <a:p>
            <a:r>
              <a:rPr lang="fr-FR" sz="2100" b="1" dirty="0">
                <a:hlinkClick r:id="" action="ppaction://noaction"/>
              </a:rPr>
              <a:t>Evaluation</a:t>
            </a:r>
            <a:endParaRPr lang="fr-FR" sz="2100" b="1" dirty="0"/>
          </a:p>
        </p:txBody>
      </p:sp>
      <p:sp>
        <p:nvSpPr>
          <p:cNvPr id="14" name="ZoneTexte 13">
            <a:extLst>
              <a:ext uri="{FF2B5EF4-FFF2-40B4-BE49-F238E27FC236}">
                <a16:creationId xmlns:a16="http://schemas.microsoft.com/office/drawing/2014/main" id="{FD9FB0A7-355F-4BD6-9503-EE74B782EF9E}"/>
              </a:ext>
            </a:extLst>
          </p:cNvPr>
          <p:cNvSpPr txBox="1"/>
          <p:nvPr/>
        </p:nvSpPr>
        <p:spPr>
          <a:xfrm>
            <a:off x="2529052" y="1742039"/>
            <a:ext cx="875048" cy="415498"/>
          </a:xfrm>
          <a:prstGeom prst="rect">
            <a:avLst/>
          </a:prstGeom>
          <a:noFill/>
        </p:spPr>
        <p:txBody>
          <a:bodyPr wrap="none" rtlCol="0">
            <a:spAutoFit/>
          </a:bodyPr>
          <a:lstStyle/>
          <a:p>
            <a:r>
              <a:rPr lang="fr-FR" sz="2100" b="1" dirty="0"/>
              <a:t>Revue</a:t>
            </a:r>
          </a:p>
        </p:txBody>
      </p:sp>
      <p:sp>
        <p:nvSpPr>
          <p:cNvPr id="28" name="ZoneTexte 27">
            <a:extLst>
              <a:ext uri="{FF2B5EF4-FFF2-40B4-BE49-F238E27FC236}">
                <a16:creationId xmlns:a16="http://schemas.microsoft.com/office/drawing/2014/main" id="{11C231B3-F302-4EA4-8D23-0B1B14017AD4}"/>
              </a:ext>
            </a:extLst>
          </p:cNvPr>
          <p:cNvSpPr txBox="1"/>
          <p:nvPr/>
        </p:nvSpPr>
        <p:spPr>
          <a:xfrm>
            <a:off x="5990124" y="1076682"/>
            <a:ext cx="1228991" cy="415498"/>
          </a:xfrm>
          <a:prstGeom prst="rect">
            <a:avLst/>
          </a:prstGeom>
          <a:solidFill>
            <a:srgbClr val="FFFF00"/>
          </a:solidFill>
        </p:spPr>
        <p:txBody>
          <a:bodyPr wrap="none" rtlCol="0">
            <a:spAutoFit/>
          </a:bodyPr>
          <a:lstStyle/>
          <a:p>
            <a:r>
              <a:rPr lang="fr-FR" sz="2100" dirty="0"/>
              <a:t>s'engager</a:t>
            </a:r>
          </a:p>
        </p:txBody>
      </p:sp>
      <p:sp>
        <p:nvSpPr>
          <p:cNvPr id="29" name="ZoneTexte 28">
            <a:extLst>
              <a:ext uri="{FF2B5EF4-FFF2-40B4-BE49-F238E27FC236}">
                <a16:creationId xmlns:a16="http://schemas.microsoft.com/office/drawing/2014/main" id="{6C101AA4-8E90-44AA-B545-BEA9A218C34F}"/>
              </a:ext>
            </a:extLst>
          </p:cNvPr>
          <p:cNvSpPr txBox="1"/>
          <p:nvPr/>
        </p:nvSpPr>
        <p:spPr>
          <a:xfrm>
            <a:off x="8515611" y="3013501"/>
            <a:ext cx="1390390" cy="738664"/>
          </a:xfrm>
          <a:prstGeom prst="rect">
            <a:avLst/>
          </a:prstGeom>
          <a:solidFill>
            <a:srgbClr val="FFFF00"/>
          </a:solidFill>
        </p:spPr>
        <p:txBody>
          <a:bodyPr wrap="square" rtlCol="0">
            <a:spAutoFit/>
          </a:bodyPr>
          <a:lstStyle/>
          <a:p>
            <a:pPr algn="ctr"/>
            <a:r>
              <a:rPr lang="fr-FR" sz="2100" dirty="0"/>
              <a:t>se rendre capable</a:t>
            </a:r>
          </a:p>
        </p:txBody>
      </p:sp>
      <p:sp>
        <p:nvSpPr>
          <p:cNvPr id="30" name="ZoneTexte 29">
            <a:extLst>
              <a:ext uri="{FF2B5EF4-FFF2-40B4-BE49-F238E27FC236}">
                <a16:creationId xmlns:a16="http://schemas.microsoft.com/office/drawing/2014/main" id="{CC4D1349-38E7-401C-A1C5-58FE63BFD4F5}"/>
              </a:ext>
            </a:extLst>
          </p:cNvPr>
          <p:cNvSpPr txBox="1"/>
          <p:nvPr/>
        </p:nvSpPr>
        <p:spPr>
          <a:xfrm>
            <a:off x="4252612" y="3088032"/>
            <a:ext cx="1390390" cy="415498"/>
          </a:xfrm>
          <a:prstGeom prst="rect">
            <a:avLst/>
          </a:prstGeom>
          <a:noFill/>
        </p:spPr>
        <p:txBody>
          <a:bodyPr wrap="square" rtlCol="0">
            <a:spAutoFit/>
          </a:bodyPr>
          <a:lstStyle/>
          <a:p>
            <a:pPr algn="ctr"/>
            <a:r>
              <a:rPr lang="fr-FR" sz="2100" dirty="0"/>
              <a:t>Faire</a:t>
            </a:r>
          </a:p>
        </p:txBody>
      </p:sp>
      <p:sp>
        <p:nvSpPr>
          <p:cNvPr id="31" name="ZoneTexte 30">
            <a:extLst>
              <a:ext uri="{FF2B5EF4-FFF2-40B4-BE49-F238E27FC236}">
                <a16:creationId xmlns:a16="http://schemas.microsoft.com/office/drawing/2014/main" id="{61DFC2CC-FAB9-405C-8D41-06D3074B99DF}"/>
              </a:ext>
            </a:extLst>
          </p:cNvPr>
          <p:cNvSpPr txBox="1"/>
          <p:nvPr/>
        </p:nvSpPr>
        <p:spPr>
          <a:xfrm>
            <a:off x="2038380" y="5246193"/>
            <a:ext cx="1695420" cy="415498"/>
          </a:xfrm>
          <a:prstGeom prst="rect">
            <a:avLst/>
          </a:prstGeom>
          <a:solidFill>
            <a:srgbClr val="FFFF00"/>
          </a:solidFill>
        </p:spPr>
        <p:txBody>
          <a:bodyPr wrap="square" rtlCol="0">
            <a:spAutoFit/>
          </a:bodyPr>
          <a:lstStyle/>
          <a:p>
            <a:pPr algn="ctr"/>
            <a:r>
              <a:rPr lang="fr-FR" sz="2100" dirty="0"/>
              <a:t>Faire-savoir</a:t>
            </a:r>
          </a:p>
        </p:txBody>
      </p:sp>
      <p:sp>
        <p:nvSpPr>
          <p:cNvPr id="32" name="ZoneTexte 31">
            <a:extLst>
              <a:ext uri="{FF2B5EF4-FFF2-40B4-BE49-F238E27FC236}">
                <a16:creationId xmlns:a16="http://schemas.microsoft.com/office/drawing/2014/main" id="{AE3EA411-BBBA-4426-A5B8-8E3CF83A8315}"/>
              </a:ext>
            </a:extLst>
          </p:cNvPr>
          <p:cNvSpPr txBox="1"/>
          <p:nvPr/>
        </p:nvSpPr>
        <p:spPr>
          <a:xfrm>
            <a:off x="342960" y="3077631"/>
            <a:ext cx="1695420" cy="415498"/>
          </a:xfrm>
          <a:prstGeom prst="rect">
            <a:avLst/>
          </a:prstGeom>
          <a:solidFill>
            <a:srgbClr val="FFFF00"/>
          </a:solidFill>
        </p:spPr>
        <p:txBody>
          <a:bodyPr wrap="square" rtlCol="0">
            <a:spAutoFit/>
          </a:bodyPr>
          <a:lstStyle/>
          <a:p>
            <a:pPr algn="ctr"/>
            <a:r>
              <a:rPr lang="fr-FR" sz="2100" dirty="0"/>
              <a:t>conduire</a:t>
            </a:r>
          </a:p>
        </p:txBody>
      </p:sp>
      <p:sp>
        <p:nvSpPr>
          <p:cNvPr id="33" name="ZoneTexte 32">
            <a:extLst>
              <a:ext uri="{FF2B5EF4-FFF2-40B4-BE49-F238E27FC236}">
                <a16:creationId xmlns:a16="http://schemas.microsoft.com/office/drawing/2014/main" id="{B594CDC2-FBD2-4ECA-8755-F7E4F9A7428D}"/>
              </a:ext>
            </a:extLst>
          </p:cNvPr>
          <p:cNvSpPr txBox="1"/>
          <p:nvPr/>
        </p:nvSpPr>
        <p:spPr>
          <a:xfrm>
            <a:off x="628834" y="1881333"/>
            <a:ext cx="1695420" cy="415498"/>
          </a:xfrm>
          <a:prstGeom prst="rect">
            <a:avLst/>
          </a:prstGeom>
          <a:solidFill>
            <a:srgbClr val="FFFF00"/>
          </a:solidFill>
        </p:spPr>
        <p:txBody>
          <a:bodyPr wrap="square" rtlCol="0">
            <a:spAutoFit/>
          </a:bodyPr>
          <a:lstStyle/>
          <a:p>
            <a:pPr algn="ctr"/>
            <a:r>
              <a:rPr lang="fr-FR" sz="2100" dirty="0"/>
              <a:t>vérifier</a:t>
            </a:r>
          </a:p>
        </p:txBody>
      </p:sp>
      <p:sp>
        <p:nvSpPr>
          <p:cNvPr id="34" name="ZoneTexte 33">
            <a:extLst>
              <a:ext uri="{FF2B5EF4-FFF2-40B4-BE49-F238E27FC236}">
                <a16:creationId xmlns:a16="http://schemas.microsoft.com/office/drawing/2014/main" id="{CF8BAA44-8829-4E2D-8D50-7441B1786DD5}"/>
              </a:ext>
            </a:extLst>
          </p:cNvPr>
          <p:cNvSpPr txBox="1"/>
          <p:nvPr/>
        </p:nvSpPr>
        <p:spPr>
          <a:xfrm>
            <a:off x="2109664" y="953704"/>
            <a:ext cx="1695420" cy="415498"/>
          </a:xfrm>
          <a:prstGeom prst="rect">
            <a:avLst/>
          </a:prstGeom>
          <a:solidFill>
            <a:srgbClr val="FFFF00"/>
          </a:solidFill>
        </p:spPr>
        <p:txBody>
          <a:bodyPr wrap="square" rtlCol="0">
            <a:spAutoFit/>
          </a:bodyPr>
          <a:lstStyle/>
          <a:p>
            <a:pPr algn="ctr"/>
            <a:r>
              <a:rPr lang="fr-FR" sz="2100" dirty="0"/>
              <a:t>avancer</a:t>
            </a:r>
          </a:p>
        </p:txBody>
      </p:sp>
      <p:sp>
        <p:nvSpPr>
          <p:cNvPr id="4" name="ZoneTexte 3">
            <a:extLst>
              <a:ext uri="{FF2B5EF4-FFF2-40B4-BE49-F238E27FC236}">
                <a16:creationId xmlns:a16="http://schemas.microsoft.com/office/drawing/2014/main" id="{41896F5D-DF23-E6E2-C6F1-9ED3123684E8}"/>
              </a:ext>
            </a:extLst>
          </p:cNvPr>
          <p:cNvSpPr txBox="1"/>
          <p:nvPr/>
        </p:nvSpPr>
        <p:spPr>
          <a:xfrm>
            <a:off x="6751937" y="5038444"/>
            <a:ext cx="1461426" cy="415498"/>
          </a:xfrm>
          <a:prstGeom prst="rect">
            <a:avLst/>
          </a:prstGeom>
          <a:solidFill>
            <a:srgbClr val="FFFF00"/>
          </a:solidFill>
        </p:spPr>
        <p:txBody>
          <a:bodyPr wrap="none" rtlCol="0">
            <a:spAutoFit/>
          </a:bodyPr>
          <a:lstStyle/>
          <a:p>
            <a:r>
              <a:rPr lang="fr-FR" sz="2100" b="1" dirty="0"/>
              <a:t>Savoir-faire</a:t>
            </a:r>
          </a:p>
        </p:txBody>
      </p:sp>
    </p:spTree>
    <p:extLst>
      <p:ext uri="{BB962C8B-B14F-4D97-AF65-F5344CB8AC3E}">
        <p14:creationId xmlns:p14="http://schemas.microsoft.com/office/powerpoint/2010/main" val="198095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P spid="7" grpId="0"/>
      <p:bldP spid="8" grpId="0"/>
      <p:bldP spid="9" grpId="0"/>
      <p:bldP spid="10" grpId="0"/>
      <p:bldP spid="11" grpId="0"/>
      <p:bldP spid="12" grpId="0"/>
      <p:bldP spid="13" grpId="0"/>
      <p:bldP spid="14" grpId="0"/>
      <p:bldP spid="28" grpId="0" animBg="1"/>
      <p:bldP spid="29" grpId="0" animBg="1"/>
      <p:bldP spid="30" grpId="0"/>
      <p:bldP spid="31" grpId="0" animBg="1"/>
      <p:bldP spid="32" grpId="0" animBg="1"/>
      <p:bldP spid="33" grpId="0" animBg="1"/>
      <p:bldP spid="34"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61EE2E-B69B-4B6F-A424-5F015565EBF9}"/>
              </a:ext>
            </a:extLst>
          </p:cNvPr>
          <p:cNvSpPr>
            <a:spLocks noGrp="1"/>
          </p:cNvSpPr>
          <p:nvPr>
            <p:ph type="title"/>
          </p:nvPr>
        </p:nvSpPr>
        <p:spPr/>
        <p:txBody>
          <a:bodyPr/>
          <a:lstStyle/>
          <a:p>
            <a:r>
              <a:rPr lang="fr-FR" dirty="0"/>
              <a:t>Management des systèmes selon ISO</a:t>
            </a:r>
          </a:p>
        </p:txBody>
      </p:sp>
      <p:sp>
        <p:nvSpPr>
          <p:cNvPr id="3" name="ZoneTexte 2">
            <a:extLst>
              <a:ext uri="{FF2B5EF4-FFF2-40B4-BE49-F238E27FC236}">
                <a16:creationId xmlns:a16="http://schemas.microsoft.com/office/drawing/2014/main" id="{33AA49E3-6EC0-4E83-BC80-3E0653E098EC}"/>
              </a:ext>
            </a:extLst>
          </p:cNvPr>
          <p:cNvSpPr txBox="1"/>
          <p:nvPr/>
        </p:nvSpPr>
        <p:spPr>
          <a:xfrm>
            <a:off x="312242" y="1294773"/>
            <a:ext cx="4756238" cy="5078313"/>
          </a:xfrm>
          <a:prstGeom prst="rect">
            <a:avLst/>
          </a:prstGeom>
          <a:noFill/>
        </p:spPr>
        <p:txBody>
          <a:bodyPr wrap="none" rtlCol="0">
            <a:spAutoFit/>
          </a:bodyPr>
          <a:lstStyle/>
          <a:p>
            <a:pPr marL="342900" indent="-342900">
              <a:buFont typeface="+mj-lt"/>
              <a:buAutoNum type="arabicPeriod"/>
            </a:pPr>
            <a:r>
              <a:rPr lang="fr-FR" dirty="0"/>
              <a:t>Domaine d'application</a:t>
            </a:r>
          </a:p>
          <a:p>
            <a:pPr marL="342900" indent="-342900">
              <a:buFont typeface="+mj-lt"/>
              <a:buAutoNum type="arabicPeriod"/>
            </a:pPr>
            <a:r>
              <a:rPr lang="fr-FR" dirty="0"/>
              <a:t>Norme</a:t>
            </a:r>
          </a:p>
          <a:p>
            <a:pPr marL="342900" indent="-342900">
              <a:buFont typeface="+mj-lt"/>
              <a:buAutoNum type="arabicPeriod"/>
            </a:pPr>
            <a:r>
              <a:rPr lang="fr-FR" dirty="0"/>
              <a:t>Termes et définitions</a:t>
            </a:r>
          </a:p>
          <a:p>
            <a:pPr marL="342900" indent="-342900">
              <a:buFont typeface="+mj-lt"/>
              <a:buAutoNum type="arabicPeriod"/>
            </a:pPr>
            <a:endParaRPr lang="fr-FR" dirty="0"/>
          </a:p>
          <a:p>
            <a:pPr marL="342900" indent="-342900">
              <a:buFont typeface="+mj-lt"/>
              <a:buAutoNum type="arabicPeriod"/>
            </a:pPr>
            <a:r>
              <a:rPr lang="fr-FR" dirty="0"/>
              <a:t>Contexte de l'organisme</a:t>
            </a:r>
          </a:p>
          <a:p>
            <a:pPr marL="800100" lvl="1" indent="-342900">
              <a:buAutoNum type="arabicPeriod"/>
            </a:pPr>
            <a:r>
              <a:rPr lang="fr-FR" dirty="0"/>
              <a:t>Connaissance et contexte</a:t>
            </a:r>
          </a:p>
          <a:p>
            <a:pPr marL="800100" lvl="1" indent="-342900">
              <a:buAutoNum type="arabicPeriod"/>
            </a:pPr>
            <a:r>
              <a:rPr lang="fr-FR" dirty="0"/>
              <a:t>Compréhension besoins et attentes</a:t>
            </a:r>
          </a:p>
          <a:p>
            <a:pPr marL="800100" lvl="1" indent="-342900">
              <a:buAutoNum type="arabicPeriod"/>
            </a:pPr>
            <a:r>
              <a:rPr lang="fr-FR" dirty="0"/>
              <a:t>Détermination du périmètre</a:t>
            </a:r>
          </a:p>
          <a:p>
            <a:pPr marL="800100" lvl="1" indent="-342900">
              <a:buAutoNum type="arabicPeriod"/>
            </a:pPr>
            <a:r>
              <a:rPr lang="fr-FR" dirty="0"/>
              <a:t>Description du système </a:t>
            </a:r>
          </a:p>
          <a:p>
            <a:pPr marL="800100" lvl="1" indent="-342900">
              <a:buAutoNum type="arabicPeriod"/>
            </a:pPr>
            <a:endParaRPr lang="fr-FR" dirty="0"/>
          </a:p>
          <a:p>
            <a:pPr marL="342900" indent="-342900">
              <a:buAutoNum type="arabicPeriod"/>
            </a:pPr>
            <a:r>
              <a:rPr lang="fr-FR" dirty="0"/>
              <a:t>Leadership</a:t>
            </a:r>
          </a:p>
          <a:p>
            <a:pPr marL="800100" lvl="1" indent="-342900">
              <a:buAutoNum type="arabicPeriod"/>
            </a:pPr>
            <a:r>
              <a:rPr lang="fr-FR" dirty="0"/>
              <a:t>Leadership et engagement</a:t>
            </a:r>
          </a:p>
          <a:p>
            <a:pPr marL="800100" lvl="1" indent="-342900">
              <a:buAutoNum type="arabicPeriod"/>
            </a:pPr>
            <a:r>
              <a:rPr lang="fr-FR" dirty="0"/>
              <a:t>Politique générale</a:t>
            </a:r>
          </a:p>
          <a:p>
            <a:pPr marL="800100" lvl="1" indent="-342900">
              <a:buAutoNum type="arabicPeriod"/>
            </a:pPr>
            <a:r>
              <a:rPr lang="fr-FR" dirty="0"/>
              <a:t>Rôles, responsabilités, autorités</a:t>
            </a:r>
          </a:p>
          <a:p>
            <a:pPr marL="800100" lvl="1" indent="-342900">
              <a:buAutoNum type="arabicPeriod"/>
            </a:pPr>
            <a:endParaRPr lang="fr-FR" dirty="0"/>
          </a:p>
          <a:p>
            <a:pPr marL="342900" indent="-342900">
              <a:buAutoNum type="arabicPeriod"/>
            </a:pPr>
            <a:r>
              <a:rPr lang="fr-FR" dirty="0"/>
              <a:t>Planification</a:t>
            </a:r>
          </a:p>
          <a:p>
            <a:pPr marL="800100" lvl="1" indent="-342900">
              <a:buAutoNum type="arabicPeriod"/>
            </a:pPr>
            <a:r>
              <a:rPr lang="fr-FR" dirty="0"/>
              <a:t>Actions face aux risques et opportunités</a:t>
            </a:r>
          </a:p>
          <a:p>
            <a:pPr marL="800100" lvl="1" indent="-342900">
              <a:buAutoNum type="arabicPeriod"/>
            </a:pPr>
            <a:r>
              <a:rPr lang="fr-FR" dirty="0"/>
              <a:t>Objectifs et plans pour les atteindre</a:t>
            </a:r>
          </a:p>
        </p:txBody>
      </p:sp>
      <p:sp>
        <p:nvSpPr>
          <p:cNvPr id="4" name="ZoneTexte 3">
            <a:extLst>
              <a:ext uri="{FF2B5EF4-FFF2-40B4-BE49-F238E27FC236}">
                <a16:creationId xmlns:a16="http://schemas.microsoft.com/office/drawing/2014/main" id="{E06B5963-D7BC-4392-89BD-E7BD2902A7C3}"/>
              </a:ext>
            </a:extLst>
          </p:cNvPr>
          <p:cNvSpPr txBox="1"/>
          <p:nvPr/>
        </p:nvSpPr>
        <p:spPr>
          <a:xfrm>
            <a:off x="5273076" y="1070987"/>
            <a:ext cx="4349076" cy="5355312"/>
          </a:xfrm>
          <a:prstGeom prst="rect">
            <a:avLst/>
          </a:prstGeom>
          <a:noFill/>
        </p:spPr>
        <p:txBody>
          <a:bodyPr wrap="none" rtlCol="0">
            <a:spAutoFit/>
          </a:bodyPr>
          <a:lstStyle/>
          <a:p>
            <a:pPr marL="342900" indent="-342900">
              <a:buFont typeface="+mj-lt"/>
              <a:buAutoNum type="arabicPeriod" startAt="7"/>
            </a:pPr>
            <a:r>
              <a:rPr lang="fr-FR" dirty="0"/>
              <a:t>Support</a:t>
            </a:r>
          </a:p>
          <a:p>
            <a:pPr marL="800100" lvl="1" indent="-342900">
              <a:buAutoNum type="arabicPeriod"/>
            </a:pPr>
            <a:r>
              <a:rPr lang="fr-FR" dirty="0"/>
              <a:t>Ressources</a:t>
            </a:r>
          </a:p>
          <a:p>
            <a:pPr marL="800100" lvl="1" indent="-342900">
              <a:buAutoNum type="arabicPeriod"/>
            </a:pPr>
            <a:r>
              <a:rPr lang="fr-FR" dirty="0"/>
              <a:t>Compétences</a:t>
            </a:r>
          </a:p>
          <a:p>
            <a:pPr marL="800100" lvl="1" indent="-342900">
              <a:buAutoNum type="arabicPeriod"/>
            </a:pPr>
            <a:r>
              <a:rPr lang="fr-FR" dirty="0"/>
              <a:t>Sensibilisation</a:t>
            </a:r>
          </a:p>
          <a:p>
            <a:pPr marL="800100" lvl="1" indent="-342900">
              <a:buAutoNum type="arabicPeriod"/>
            </a:pPr>
            <a:r>
              <a:rPr lang="fr-FR" dirty="0"/>
              <a:t>Communication</a:t>
            </a:r>
          </a:p>
          <a:p>
            <a:pPr marL="800100" lvl="1" indent="-342900">
              <a:buAutoNum type="arabicPeriod"/>
            </a:pPr>
            <a:r>
              <a:rPr lang="fr-FR" dirty="0"/>
              <a:t>Informations documentées</a:t>
            </a:r>
          </a:p>
          <a:p>
            <a:pPr marL="800100" lvl="1" indent="-342900">
              <a:buAutoNum type="arabicPeriod"/>
            </a:pPr>
            <a:endParaRPr lang="fr-FR" dirty="0"/>
          </a:p>
          <a:p>
            <a:pPr marL="342900" indent="-342900">
              <a:buAutoNum type="arabicPeriod" startAt="7"/>
            </a:pPr>
            <a:r>
              <a:rPr lang="fr-FR" dirty="0"/>
              <a:t>Fonctionnement</a:t>
            </a:r>
          </a:p>
          <a:p>
            <a:pPr marL="800100" lvl="1" indent="-342900">
              <a:buAutoNum type="arabicPeriod" startAt="4"/>
            </a:pPr>
            <a:r>
              <a:rPr lang="fr-FR" dirty="0"/>
              <a:t>Planification opérationnelle</a:t>
            </a:r>
          </a:p>
          <a:p>
            <a:pPr marL="800100" lvl="1" indent="-342900">
              <a:buAutoNum type="arabicPeriod" startAt="4"/>
            </a:pPr>
            <a:r>
              <a:rPr lang="fr-FR" dirty="0"/>
              <a:t>Exigences Qualité, </a:t>
            </a:r>
            <a:r>
              <a:rPr lang="fr-FR" dirty="0" err="1"/>
              <a:t>Envir</a:t>
            </a:r>
            <a:r>
              <a:rPr lang="fr-FR" dirty="0"/>
              <a:t>., etc.</a:t>
            </a:r>
          </a:p>
          <a:p>
            <a:pPr marL="342900" indent="-342900">
              <a:buAutoNum type="arabicPeriod" startAt="7"/>
            </a:pPr>
            <a:endParaRPr lang="fr-FR" dirty="0"/>
          </a:p>
          <a:p>
            <a:pPr marL="342900" indent="-342900">
              <a:buAutoNum type="arabicPeriod" startAt="7"/>
            </a:pPr>
            <a:r>
              <a:rPr lang="fr-FR" dirty="0"/>
              <a:t>Evaluation des performances</a:t>
            </a:r>
          </a:p>
          <a:p>
            <a:pPr marL="800100" lvl="1" indent="-342900">
              <a:buAutoNum type="arabicPeriod" startAt="4"/>
            </a:pPr>
            <a:r>
              <a:rPr lang="fr-FR" dirty="0"/>
              <a:t>Surveillance, évaluation</a:t>
            </a:r>
          </a:p>
          <a:p>
            <a:pPr marL="800100" lvl="1" indent="-342900">
              <a:buAutoNum type="arabicPeriod" startAt="4"/>
            </a:pPr>
            <a:r>
              <a:rPr lang="fr-FR" dirty="0"/>
              <a:t>Audit interne</a:t>
            </a:r>
          </a:p>
          <a:p>
            <a:pPr marL="800100" lvl="1" indent="-342900">
              <a:buAutoNum type="arabicPeriod" startAt="4"/>
            </a:pPr>
            <a:r>
              <a:rPr lang="fr-FR" dirty="0"/>
              <a:t>Revue de Direction</a:t>
            </a:r>
          </a:p>
          <a:p>
            <a:pPr marL="342900" indent="-342900">
              <a:buAutoNum type="arabicPeriod" startAt="7"/>
            </a:pPr>
            <a:endParaRPr lang="fr-FR" dirty="0"/>
          </a:p>
          <a:p>
            <a:pPr marL="342900" indent="-342900">
              <a:buAutoNum type="arabicPeriod" startAt="7"/>
            </a:pPr>
            <a:r>
              <a:rPr lang="fr-FR" dirty="0"/>
              <a:t>Amélioration</a:t>
            </a:r>
          </a:p>
          <a:p>
            <a:pPr marL="800100" lvl="1" indent="-342900">
              <a:buAutoNum type="arabicPeriod" startAt="4"/>
            </a:pPr>
            <a:r>
              <a:rPr lang="fr-FR" dirty="0"/>
              <a:t>Non-conformité, actions correctives</a:t>
            </a:r>
          </a:p>
          <a:p>
            <a:pPr marL="800100" lvl="1" indent="-342900">
              <a:buAutoNum type="arabicPeriod" startAt="4"/>
            </a:pPr>
            <a:r>
              <a:rPr lang="fr-FR" dirty="0"/>
              <a:t>Amélioration continue</a:t>
            </a:r>
          </a:p>
        </p:txBody>
      </p:sp>
      <p:sp>
        <p:nvSpPr>
          <p:cNvPr id="5" name="Rectangle 4">
            <a:extLst>
              <a:ext uri="{FF2B5EF4-FFF2-40B4-BE49-F238E27FC236}">
                <a16:creationId xmlns:a16="http://schemas.microsoft.com/office/drawing/2014/main" id="{B380580F-33E5-422B-AF8E-F7AC469A25EC}"/>
              </a:ext>
            </a:extLst>
          </p:cNvPr>
          <p:cNvSpPr/>
          <p:nvPr/>
        </p:nvSpPr>
        <p:spPr>
          <a:xfrm>
            <a:off x="776536" y="648442"/>
            <a:ext cx="4291944" cy="646331"/>
          </a:xfrm>
          <a:prstGeom prst="rect">
            <a:avLst/>
          </a:prstGeom>
        </p:spPr>
        <p:txBody>
          <a:bodyPr wrap="none">
            <a:spAutoFit/>
          </a:bodyPr>
          <a:lstStyle/>
          <a:p>
            <a:r>
              <a:rPr lang="fr-FR" b="1" dirty="0"/>
              <a:t>Intégration des Systèmes de management :</a:t>
            </a:r>
          </a:p>
          <a:p>
            <a:pPr algn="r"/>
            <a:r>
              <a:rPr lang="fr-FR" b="1" dirty="0"/>
              <a:t>Qualité, Environnement, Energie, SST,…</a:t>
            </a:r>
          </a:p>
        </p:txBody>
      </p:sp>
    </p:spTree>
    <p:extLst>
      <p:ext uri="{BB962C8B-B14F-4D97-AF65-F5344CB8AC3E}">
        <p14:creationId xmlns:p14="http://schemas.microsoft.com/office/powerpoint/2010/main" val="3682861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xEl>
                                              <p:pRg st="0" end="0"/>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
                                            <p:txEl>
                                              <p:pRg st="1" end="1"/>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
                                            <p:txEl>
                                              <p:pRg st="3" end="3"/>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xEl>
                                              <p:pRg st="4" end="4"/>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7" end="7"/>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
                                            <p:txEl>
                                              <p:pRg st="8" end="8"/>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11" end="11"/>
                                            </p:tx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
                                            <p:txEl>
                                              <p:pRg st="12" end="12"/>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
                                            <p:txEl>
                                              <p:pRg st="13" end="13"/>
                                            </p:tx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
                                            <p:txEl>
                                              <p:pRg st="16" end="16"/>
                                            </p:txEl>
                                          </p:spTgt>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
                                            <p:txEl>
                                              <p:pRg st="17" end="17"/>
                                            </p:txEl>
                                          </p:spTgt>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P spid="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B49AB-9371-6537-B0AD-D5C7D81AD9C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482A7EB-AB44-F31D-3CB9-FD03F31B7AC6}"/>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8ED7283E-035E-D155-4413-AD69788AB29D}"/>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7C8BD8D3-DF32-641A-C3F9-D12D7E365A9E}"/>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5F3D5390-55FA-7E11-13F9-877E062117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0C858C48-F245-7801-296C-254C66E9946C}"/>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D3189A86-F95B-A8E6-BF7C-E536F9F3EFED}"/>
              </a:ext>
            </a:extLst>
          </p:cNvPr>
          <p:cNvSpPr txBox="1"/>
          <p:nvPr/>
        </p:nvSpPr>
        <p:spPr>
          <a:xfrm>
            <a:off x="493077" y="1031966"/>
            <a:ext cx="9108123" cy="5509200"/>
          </a:xfrm>
          <a:prstGeom prst="rect">
            <a:avLst/>
          </a:prstGeom>
          <a:noFill/>
        </p:spPr>
        <p:txBody>
          <a:bodyPr wrap="square">
            <a:spAutoFit/>
          </a:bodyPr>
          <a:lstStyle/>
          <a:p>
            <a:r>
              <a:rPr lang="fr-FR" sz="3200" b="1" dirty="0"/>
              <a:t>Exercice 1 : Outils de suivi budgétaire</a:t>
            </a:r>
          </a:p>
          <a:p>
            <a:endParaRPr lang="fr-FR" sz="3200" b="1" dirty="0"/>
          </a:p>
          <a:p>
            <a:r>
              <a:rPr lang="fr-FR" sz="3200" dirty="0"/>
              <a:t>Vous avez la charge d'un projet de construction et devez choisir un outil de suivi budgétaire adapté. Pour cela, établissez </a:t>
            </a:r>
            <a:r>
              <a:rPr lang="fr-FR" sz="3200" b="1" dirty="0"/>
              <a:t>une liste des critères</a:t>
            </a:r>
            <a:r>
              <a:rPr lang="fr-FR" sz="3200" dirty="0"/>
              <a:t> que vous prendriez en compte pour choisir l'outil le plus adapté à ce projet.</a:t>
            </a:r>
          </a:p>
          <a:p>
            <a:endParaRPr lang="fr-FR" sz="3200" dirty="0"/>
          </a:p>
          <a:p>
            <a:r>
              <a:rPr lang="fr-FR" sz="3200" dirty="0"/>
              <a:t>Ensuite, classez ces critères par ordre d'importance et justifiez votre classement.</a:t>
            </a:r>
          </a:p>
          <a:p>
            <a:r>
              <a:rPr lang="fr-FR" sz="3200" dirty="0"/>
              <a:t> </a:t>
            </a:r>
          </a:p>
        </p:txBody>
      </p:sp>
    </p:spTree>
    <p:extLst>
      <p:ext uri="{BB962C8B-B14F-4D97-AF65-F5344CB8AC3E}">
        <p14:creationId xmlns:p14="http://schemas.microsoft.com/office/powerpoint/2010/main" val="233347924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679B6-A244-75E9-2C63-6A7EF12C6E8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7FE49B0-13AB-F8A9-F635-A0B7667326F6}"/>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8A6F4CB3-508C-42F5-D726-B857CDEE6A0A}"/>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4BBF1E5A-07CB-E404-D942-99AF678D1982}"/>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8BFFBBBC-704C-2874-CDC4-E4B2269778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6061353C-61F3-1DA8-B446-2EAF854BF8FF}"/>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E0739BA0-6697-BF54-526A-CF40E9A42712}"/>
              </a:ext>
            </a:extLst>
          </p:cNvPr>
          <p:cNvSpPr txBox="1"/>
          <p:nvPr/>
        </p:nvSpPr>
        <p:spPr>
          <a:xfrm>
            <a:off x="0" y="620486"/>
            <a:ext cx="9906000" cy="5940088"/>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Structure d'un budget prévisionnel</a:t>
            </a:r>
            <a:r>
              <a:rPr lang="fr-FR" sz="3200" dirty="0">
                <a:effectLst/>
                <a:latin typeface="Times New Roman" panose="02020603050405020304" pitchFamily="18" charset="0"/>
                <a:ea typeface="Times New Roman" panose="02020603050405020304" pitchFamily="18" charset="0"/>
              </a:rPr>
              <a:t>.</a:t>
            </a:r>
            <a:endParaRPr lang="fr-FR" sz="2000" dirty="0">
              <a:effectLst/>
              <a:latin typeface="Times New Roman" panose="02020603050405020304" pitchFamily="18" charset="0"/>
              <a:ea typeface="Times New Roman" panose="02020603050405020304" pitchFamily="18" charset="0"/>
            </a:endParaRPr>
          </a:p>
          <a:p>
            <a:pPr marL="441325" lvl="2">
              <a:spcBef>
                <a:spcPts val="600"/>
              </a:spcBef>
              <a:spcAft>
                <a:spcPts val="600"/>
              </a:spcAft>
            </a:pPr>
            <a:endParaRPr lang="fr-FR" sz="1400" b="1" dirty="0"/>
          </a:p>
          <a:p>
            <a:pPr marL="441325" lvl="2">
              <a:spcBef>
                <a:spcPts val="600"/>
              </a:spcBef>
              <a:spcAft>
                <a:spcPts val="600"/>
              </a:spcAft>
            </a:pPr>
            <a:r>
              <a:rPr lang="fr-FR" sz="2400" b="1" dirty="0"/>
              <a:t>2. Modalité du projet :</a:t>
            </a:r>
          </a:p>
          <a:p>
            <a:pPr marL="1355725" lvl="5" indent="-457200">
              <a:spcBef>
                <a:spcPts val="600"/>
              </a:spcBef>
              <a:buFont typeface="Wingdings" panose="05000000000000000000" pitchFamily="2" charset="2"/>
              <a:buChar char="è"/>
            </a:pPr>
            <a:r>
              <a:rPr lang="fr-FR" sz="2000" b="1" dirty="0"/>
              <a:t>Projets au forfait</a:t>
            </a:r>
          </a:p>
          <a:p>
            <a:pPr marL="1812925" lvl="6" indent="-457200">
              <a:spcBef>
                <a:spcPts val="600"/>
              </a:spcBef>
              <a:buFont typeface="Wingdings" panose="05000000000000000000" pitchFamily="2" charset="2"/>
              <a:buChar char="è"/>
            </a:pPr>
            <a:r>
              <a:rPr lang="fr-FR" sz="2000" dirty="0"/>
              <a:t>budget fixe</a:t>
            </a:r>
            <a:endParaRPr lang="fr-FR" sz="2000" i="1" dirty="0"/>
          </a:p>
          <a:p>
            <a:pPr marL="1812925" lvl="6" indent="-457200">
              <a:spcBef>
                <a:spcPts val="600"/>
              </a:spcBef>
              <a:buFont typeface="Wingdings" panose="05000000000000000000" pitchFamily="2" charset="2"/>
              <a:buChar char="è"/>
            </a:pPr>
            <a:r>
              <a:rPr lang="fr-FR" sz="2000" dirty="0"/>
              <a:t>payable par tranches</a:t>
            </a:r>
          </a:p>
          <a:p>
            <a:pPr marL="1812925" lvl="6" indent="-457200">
              <a:spcBef>
                <a:spcPts val="600"/>
              </a:spcBef>
              <a:buFont typeface="Wingdings" panose="05000000000000000000" pitchFamily="2" charset="2"/>
              <a:buChar char="è"/>
            </a:pPr>
            <a:r>
              <a:rPr lang="fr-FR" sz="2000" dirty="0"/>
              <a:t>exemples dev ? exemples </a:t>
            </a:r>
            <a:r>
              <a:rPr lang="fr-FR" sz="2000" dirty="0" err="1"/>
              <a:t>rx</a:t>
            </a:r>
            <a:r>
              <a:rPr lang="fr-FR" sz="2000" dirty="0"/>
              <a:t> ?</a:t>
            </a:r>
          </a:p>
          <a:p>
            <a:pPr marL="1355725" lvl="6">
              <a:spcBef>
                <a:spcPts val="600"/>
              </a:spcBef>
            </a:pPr>
            <a:endParaRPr lang="fr-FR" sz="1000" dirty="0"/>
          </a:p>
          <a:p>
            <a:pPr marL="1355725" lvl="5" indent="-457200">
              <a:spcBef>
                <a:spcPts val="600"/>
              </a:spcBef>
              <a:buFont typeface="Wingdings" panose="05000000000000000000" pitchFamily="2" charset="2"/>
              <a:buChar char="è"/>
            </a:pPr>
            <a:r>
              <a:rPr lang="fr-FR" sz="2000" b="1" dirty="0"/>
              <a:t>Projets en régie</a:t>
            </a:r>
          </a:p>
          <a:p>
            <a:pPr marL="1812925" lvl="6" indent="-457200">
              <a:spcBef>
                <a:spcPts val="600"/>
              </a:spcBef>
              <a:buFont typeface="Wingdings" panose="05000000000000000000" pitchFamily="2" charset="2"/>
              <a:buChar char="è"/>
            </a:pPr>
            <a:r>
              <a:rPr lang="fr-FR" sz="2000" dirty="0"/>
              <a:t>mise à dispo de RH, différents profils, en général à plein tps (ETP)</a:t>
            </a:r>
          </a:p>
          <a:p>
            <a:pPr marL="2613025" lvl="8" indent="-342900">
              <a:spcBef>
                <a:spcPts val="600"/>
              </a:spcBef>
              <a:buFont typeface="Wingdings" panose="05000000000000000000" pitchFamily="2" charset="2"/>
              <a:buChar char="§"/>
            </a:pPr>
            <a:r>
              <a:rPr lang="fr-FR" sz="2000" dirty="0"/>
              <a:t>profils courants : Expert / Senior / Confirmé / Junior</a:t>
            </a:r>
          </a:p>
          <a:p>
            <a:pPr marL="1812925" lvl="6" indent="-457200">
              <a:spcBef>
                <a:spcPts val="600"/>
              </a:spcBef>
              <a:buFont typeface="Wingdings" panose="05000000000000000000" pitchFamily="2" charset="2"/>
              <a:buChar char="è"/>
            </a:pPr>
            <a:r>
              <a:rPr lang="fr-FR" sz="2000" dirty="0"/>
              <a:t>coûts directs : </a:t>
            </a:r>
            <a:r>
              <a:rPr lang="fr-FR" sz="2000" dirty="0" err="1"/>
              <a:t>H.jrs</a:t>
            </a:r>
            <a:r>
              <a:rPr lang="fr-FR" sz="2000" dirty="0"/>
              <a:t>	et indirects : licences, formation, RSK, frais	</a:t>
            </a:r>
          </a:p>
          <a:p>
            <a:pPr marL="1812925" lvl="6" indent="-457200">
              <a:spcBef>
                <a:spcPts val="600"/>
              </a:spcBef>
              <a:buFont typeface="Wingdings" panose="05000000000000000000" pitchFamily="2" charset="2"/>
              <a:buChar char="è"/>
            </a:pPr>
            <a:r>
              <a:rPr lang="fr-FR" sz="2000" dirty="0"/>
              <a:t>budget évolutif car évolution des profils et inflation</a:t>
            </a:r>
          </a:p>
          <a:p>
            <a:pPr marL="1812925" lvl="6" indent="-457200">
              <a:spcBef>
                <a:spcPts val="600"/>
              </a:spcBef>
              <a:buFont typeface="Wingdings" panose="05000000000000000000" pitchFamily="2" charset="2"/>
              <a:buChar char="è"/>
            </a:pPr>
            <a:r>
              <a:rPr lang="fr-FR" sz="2000" dirty="0"/>
              <a:t>exemples dev ? exemples </a:t>
            </a:r>
            <a:r>
              <a:rPr lang="fr-FR" sz="2000" dirty="0" err="1"/>
              <a:t>rx</a:t>
            </a:r>
            <a:r>
              <a:rPr lang="fr-FR" sz="2000" dirty="0"/>
              <a:t> ?</a:t>
            </a:r>
            <a:endParaRPr lang="fr-FR" sz="2000" b="1" dirty="0"/>
          </a:p>
          <a:p>
            <a:pPr marL="1812925" lvl="7">
              <a:spcBef>
                <a:spcPts val="600"/>
              </a:spcBef>
            </a:pPr>
            <a:r>
              <a:rPr lang="fr-FR" sz="2000" dirty="0"/>
              <a:t> </a:t>
            </a:r>
          </a:p>
        </p:txBody>
      </p:sp>
    </p:spTree>
    <p:extLst>
      <p:ext uri="{BB962C8B-B14F-4D97-AF65-F5344CB8AC3E}">
        <p14:creationId xmlns:p14="http://schemas.microsoft.com/office/powerpoint/2010/main" val="352532498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1303A-6843-6C2D-D66D-F18DB648F99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444FBFA-EE43-034C-A7AE-4D4738F5823B}"/>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5FEA3530-B51D-80A4-0955-DEC11FFF3CF7}"/>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B380EC73-BA37-C786-A402-77018E679939}"/>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69033BCB-8EA7-DD73-0FDC-F9ACA0567A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B9780159-E0A2-CB19-9A7C-6ACBDB4BB96D}"/>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3BEBE59F-E3F6-5035-6232-B229B3244A72}"/>
              </a:ext>
            </a:extLst>
          </p:cNvPr>
          <p:cNvSpPr txBox="1"/>
          <p:nvPr/>
        </p:nvSpPr>
        <p:spPr>
          <a:xfrm>
            <a:off x="0" y="620486"/>
            <a:ext cx="9906000" cy="5339923"/>
          </a:xfrm>
          <a:prstGeom prst="rect">
            <a:avLst/>
          </a:prstGeom>
          <a:noFill/>
        </p:spPr>
        <p:txBody>
          <a:bodyPr wrap="square">
            <a:spAutoFit/>
          </a:bodyPr>
          <a:lstStyle/>
          <a:p>
            <a:pPr lvl="1" algn="ctr">
              <a:spcBef>
                <a:spcPts val="800"/>
              </a:spcBef>
            </a:pPr>
            <a:r>
              <a:rPr lang="fr-FR" sz="3200" b="1" i="1" dirty="0">
                <a:latin typeface="Times New Roman" panose="02020603050405020304" pitchFamily="18" charset="0"/>
                <a:ea typeface="Times New Roman" panose="02020603050405020304" pitchFamily="18" charset="0"/>
              </a:rPr>
              <a:t>Structure d'un budget prévisionnel</a:t>
            </a:r>
            <a:r>
              <a:rPr lang="fr-FR" sz="3200" dirty="0">
                <a:effectLst/>
                <a:latin typeface="Times New Roman" panose="02020603050405020304" pitchFamily="18" charset="0"/>
                <a:ea typeface="Times New Roman" panose="02020603050405020304" pitchFamily="18" charset="0"/>
              </a:rPr>
              <a:t>.</a:t>
            </a:r>
            <a:endParaRPr lang="fr-FR" sz="2000" dirty="0">
              <a:effectLst/>
              <a:latin typeface="Times New Roman" panose="02020603050405020304" pitchFamily="18" charset="0"/>
              <a:ea typeface="Times New Roman" panose="02020603050405020304" pitchFamily="18" charset="0"/>
            </a:endParaRPr>
          </a:p>
          <a:p>
            <a:pPr marL="441325" lvl="2">
              <a:spcBef>
                <a:spcPts val="600"/>
              </a:spcBef>
              <a:spcAft>
                <a:spcPts val="600"/>
              </a:spcAft>
            </a:pPr>
            <a:r>
              <a:rPr lang="fr-FR" sz="2400" b="1" dirty="0"/>
              <a:t>3. Présentation du projet :</a:t>
            </a:r>
          </a:p>
          <a:p>
            <a:pPr marL="1355725" lvl="5" indent="-457200">
              <a:spcBef>
                <a:spcPts val="600"/>
              </a:spcBef>
              <a:buFont typeface="Wingdings" panose="05000000000000000000" pitchFamily="2" charset="2"/>
              <a:buChar char="è"/>
            </a:pPr>
            <a:r>
              <a:rPr lang="fr-FR" sz="2000" dirty="0"/>
              <a:t>communication</a:t>
            </a:r>
          </a:p>
          <a:p>
            <a:pPr marL="1812925" lvl="6" indent="-457200">
              <a:spcBef>
                <a:spcPts val="600"/>
              </a:spcBef>
              <a:buFont typeface="Wingdings" panose="05000000000000000000" pitchFamily="2" charset="2"/>
              <a:buChar char="è"/>
            </a:pPr>
            <a:r>
              <a:rPr lang="fr-FR" sz="2000" dirty="0"/>
              <a:t>parties prenantes</a:t>
            </a:r>
          </a:p>
          <a:p>
            <a:pPr marL="1812925" lvl="6" indent="-457200">
              <a:spcBef>
                <a:spcPts val="600"/>
              </a:spcBef>
              <a:buFont typeface="Wingdings" panose="05000000000000000000" pitchFamily="2" charset="2"/>
              <a:buChar char="è"/>
            </a:pPr>
            <a:r>
              <a:rPr lang="fr-FR" sz="2000" dirty="0"/>
              <a:t>suivi, pilotage</a:t>
            </a:r>
          </a:p>
          <a:p>
            <a:pPr marL="1355725" lvl="6">
              <a:spcBef>
                <a:spcPts val="600"/>
              </a:spcBef>
            </a:pPr>
            <a:endParaRPr lang="fr-FR" sz="2000" dirty="0"/>
          </a:p>
          <a:p>
            <a:pPr marL="1355725" lvl="5" indent="-457200">
              <a:spcBef>
                <a:spcPts val="600"/>
              </a:spcBef>
              <a:buFont typeface="Wingdings" panose="05000000000000000000" pitchFamily="2" charset="2"/>
              <a:buChar char="è"/>
            </a:pPr>
            <a:r>
              <a:rPr lang="fr-FR" sz="2000" dirty="0"/>
              <a:t>présentation par ressources</a:t>
            </a:r>
          </a:p>
          <a:p>
            <a:pPr marL="1698625" lvl="6" indent="-342900">
              <a:spcBef>
                <a:spcPts val="600"/>
              </a:spcBef>
              <a:buFont typeface="Wingdings" panose="05000000000000000000" pitchFamily="2" charset="2"/>
              <a:buChar char="§"/>
            </a:pPr>
            <a:r>
              <a:rPr lang="fr-FR" sz="2000" dirty="0"/>
              <a:t>plutôt pour de la régie, du service</a:t>
            </a:r>
          </a:p>
          <a:p>
            <a:pPr marL="1355725" lvl="6">
              <a:spcBef>
                <a:spcPts val="600"/>
              </a:spcBef>
            </a:pPr>
            <a:endParaRPr lang="fr-FR" sz="2000" dirty="0"/>
          </a:p>
          <a:p>
            <a:pPr marL="1355725" lvl="5" indent="-457200">
              <a:spcBef>
                <a:spcPts val="600"/>
              </a:spcBef>
              <a:buFont typeface="Wingdings" panose="05000000000000000000" pitchFamily="2" charset="2"/>
              <a:buChar char="è"/>
            </a:pPr>
            <a:r>
              <a:rPr lang="fr-FR" sz="2000" dirty="0"/>
              <a:t>présentation par phases WBS</a:t>
            </a:r>
          </a:p>
          <a:p>
            <a:pPr marL="1698625" lvl="6" indent="-342900">
              <a:spcBef>
                <a:spcPts val="600"/>
              </a:spcBef>
              <a:buFont typeface="Arial" panose="020B0604020202020204" pitchFamily="34" charset="0"/>
              <a:buChar char="•"/>
            </a:pPr>
            <a:r>
              <a:rPr lang="fr-FR" sz="2000" dirty="0"/>
              <a:t>plutôt pour projet au forfait</a:t>
            </a:r>
          </a:p>
          <a:p>
            <a:pPr marL="1812925" lvl="7">
              <a:spcBef>
                <a:spcPts val="600"/>
              </a:spcBef>
            </a:pPr>
            <a:endParaRPr lang="fr-FR" sz="2000" b="1" dirty="0"/>
          </a:p>
          <a:p>
            <a:pPr marL="1812925" lvl="7">
              <a:spcBef>
                <a:spcPts val="600"/>
              </a:spcBef>
            </a:pPr>
            <a:r>
              <a:rPr lang="fr-FR" sz="2000" dirty="0"/>
              <a:t> </a:t>
            </a:r>
          </a:p>
        </p:txBody>
      </p:sp>
    </p:spTree>
    <p:extLst>
      <p:ext uri="{BB962C8B-B14F-4D97-AF65-F5344CB8AC3E}">
        <p14:creationId xmlns:p14="http://schemas.microsoft.com/office/powerpoint/2010/main" val="71290924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A7C7-7060-80EE-BDD4-8DAA4ACAD24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5870DD0-351D-2AC7-16A0-D69418545BDF}"/>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A01EC63F-2EA1-9878-C755-82CBC62F3FC7}"/>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04928D38-5054-DC04-28D6-EF011B8355F0}"/>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E4D135D6-5946-9C20-107F-7F5BD0F687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73024030-8A72-D5DC-F823-008653830F3F}"/>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E33C5084-C21A-467E-6F3E-463D41BAB463}"/>
              </a:ext>
            </a:extLst>
          </p:cNvPr>
          <p:cNvSpPr txBox="1"/>
          <p:nvPr/>
        </p:nvSpPr>
        <p:spPr>
          <a:xfrm>
            <a:off x="433205" y="799045"/>
            <a:ext cx="9108123" cy="6140142"/>
          </a:xfrm>
          <a:prstGeom prst="rect">
            <a:avLst/>
          </a:prstGeom>
          <a:noFill/>
        </p:spPr>
        <p:txBody>
          <a:bodyPr wrap="square">
            <a:spAutoFit/>
          </a:bodyPr>
          <a:lstStyle/>
          <a:p>
            <a:r>
              <a:rPr lang="fr-FR" sz="3200" b="1" dirty="0"/>
              <a:t>Exercice 2 : Gestion des coûts</a:t>
            </a:r>
          </a:p>
          <a:p>
            <a:endParaRPr lang="fr-FR" sz="1100" b="1" dirty="0"/>
          </a:p>
          <a:p>
            <a:r>
              <a:rPr lang="fr-FR" sz="3200" dirty="0"/>
              <a:t>Imaginez que vous suivez les coûts d'un projet informatique et que</a:t>
            </a:r>
            <a:r>
              <a:rPr lang="fr-FR" sz="3200" b="1" dirty="0"/>
              <a:t> vous constatez un écart important entre le coût réel et le coût prévu</a:t>
            </a:r>
            <a:r>
              <a:rPr lang="fr-FR" sz="3200" dirty="0"/>
              <a:t> pour une phase du projet.</a:t>
            </a:r>
          </a:p>
          <a:p>
            <a:endParaRPr lang="fr-FR" sz="1400" dirty="0"/>
          </a:p>
          <a:p>
            <a:r>
              <a:rPr lang="fr-FR" sz="3200" b="1" dirty="0"/>
              <a:t>Proposez 3 actions correctives</a:t>
            </a:r>
            <a:r>
              <a:rPr lang="fr-FR" sz="3200" dirty="0"/>
              <a:t> que vous pourriez mettre en place pour réduire cet écart tout en maintenant la qualité du projet.</a:t>
            </a:r>
          </a:p>
          <a:p>
            <a:endParaRPr lang="fr-FR" sz="1100" dirty="0"/>
          </a:p>
          <a:p>
            <a:r>
              <a:rPr lang="fr-FR" sz="3200" dirty="0"/>
              <a:t>Expliquez en détail chacune de ces actions et justifiez leur pertinence.</a:t>
            </a:r>
          </a:p>
          <a:p>
            <a:r>
              <a:rPr lang="fr-FR" sz="3200" dirty="0"/>
              <a:t> </a:t>
            </a:r>
          </a:p>
        </p:txBody>
      </p:sp>
    </p:spTree>
    <p:extLst>
      <p:ext uri="{BB962C8B-B14F-4D97-AF65-F5344CB8AC3E}">
        <p14:creationId xmlns:p14="http://schemas.microsoft.com/office/powerpoint/2010/main" val="187337704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80B49-9213-FA58-C3A2-0D157C79B54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8BD8BB2-F5DE-0FED-C5FB-03A8312CF544}"/>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A516962E-FC8E-FD0F-DC60-7162012AA0AF}"/>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BC6AF4EF-BA52-297E-7D95-05BB482208D7}"/>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5AAA8CC2-F1E6-7C18-EAC3-DCE26DC6AE8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E55F5D1B-3D31-2A3B-3143-FA7DC2764756}"/>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8CEAC0F9-047C-EB22-A47F-1F5E20A15052}"/>
              </a:ext>
            </a:extLst>
          </p:cNvPr>
          <p:cNvSpPr txBox="1"/>
          <p:nvPr/>
        </p:nvSpPr>
        <p:spPr>
          <a:xfrm>
            <a:off x="601934" y="856357"/>
            <a:ext cx="9108123" cy="6370975"/>
          </a:xfrm>
          <a:prstGeom prst="rect">
            <a:avLst/>
          </a:prstGeom>
          <a:noFill/>
        </p:spPr>
        <p:txBody>
          <a:bodyPr wrap="square">
            <a:spAutoFit/>
          </a:bodyPr>
          <a:lstStyle/>
          <a:p>
            <a:r>
              <a:rPr lang="fr-FR" sz="3200" b="1" dirty="0"/>
              <a:t>Exercice 3 : Suivi des indicateurs de performance</a:t>
            </a:r>
          </a:p>
          <a:p>
            <a:endParaRPr lang="fr-FR" sz="2400" b="1" dirty="0"/>
          </a:p>
          <a:p>
            <a:r>
              <a:rPr lang="fr-FR" sz="3200" dirty="0"/>
              <a:t>Créez un tableau de bord de suivi de la performance financière pour un projet de votre choix.</a:t>
            </a:r>
          </a:p>
          <a:p>
            <a:endParaRPr lang="fr-FR" sz="3200" dirty="0"/>
          </a:p>
          <a:p>
            <a:r>
              <a:rPr lang="fr-FR" sz="3200" dirty="0"/>
              <a:t>Sélectionnez au moins 5 indicateurs de performance financière pertinents à inclure dans ce tableau de bord et justifiez votre choix pour chacun des indicateurs. Expliquez également comment vous interprétez ces indicateurs et quelles actions vous pourriez entreprendre en fonction des variations observées.</a:t>
            </a:r>
          </a:p>
          <a:p>
            <a:r>
              <a:rPr lang="fr-FR" sz="3200" dirty="0"/>
              <a:t> </a:t>
            </a:r>
          </a:p>
        </p:txBody>
      </p:sp>
    </p:spTree>
    <p:extLst>
      <p:ext uri="{BB962C8B-B14F-4D97-AF65-F5344CB8AC3E}">
        <p14:creationId xmlns:p14="http://schemas.microsoft.com/office/powerpoint/2010/main" val="169288345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D045B-EC79-E07A-F47A-0BECF69007A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30035B9-226F-BA31-C0D0-89801CEB30C8}"/>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784F787A-D801-F1D5-5B72-2FB9488F3E7E}"/>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23B33950-0AA9-D458-82A1-9683185758BE}"/>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A58ED456-746C-AA74-C6DA-A18AD9FFC9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CABAC5A6-5701-2B9F-05AF-024C006D4AE8}"/>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D83F2E7E-DF8B-B682-AB68-132CB90BA43F}"/>
              </a:ext>
            </a:extLst>
          </p:cNvPr>
          <p:cNvSpPr txBox="1"/>
          <p:nvPr/>
        </p:nvSpPr>
        <p:spPr>
          <a:xfrm>
            <a:off x="493077" y="1031966"/>
            <a:ext cx="9108123" cy="5509200"/>
          </a:xfrm>
          <a:prstGeom prst="rect">
            <a:avLst/>
          </a:prstGeom>
          <a:noFill/>
        </p:spPr>
        <p:txBody>
          <a:bodyPr wrap="square">
            <a:spAutoFit/>
          </a:bodyPr>
          <a:lstStyle/>
          <a:p>
            <a:r>
              <a:rPr lang="fr-FR" sz="3200" b="1" dirty="0"/>
              <a:t>Exercice 4 : Gestion proactive du projet</a:t>
            </a:r>
          </a:p>
          <a:p>
            <a:endParaRPr lang="fr-FR" sz="3200" b="1" dirty="0"/>
          </a:p>
          <a:p>
            <a:r>
              <a:rPr lang="fr-FR" sz="3200" dirty="0"/>
              <a:t>Identifiez trois risques financiers potentiels pour un projet de développement de produit. Pour chacun de ces risques, proposez un plan d'action préventif et un plan d'action en cas de réalisation du risque. Expliquez en détail les étapes de ces plans d'action, en mettant en avant l'importance de la communication des informations financières aux parties prenantes.</a:t>
            </a:r>
          </a:p>
          <a:p>
            <a:r>
              <a:rPr lang="fr-FR" sz="3200" dirty="0"/>
              <a:t> </a:t>
            </a:r>
          </a:p>
        </p:txBody>
      </p:sp>
    </p:spTree>
    <p:extLst>
      <p:ext uri="{BB962C8B-B14F-4D97-AF65-F5344CB8AC3E}">
        <p14:creationId xmlns:p14="http://schemas.microsoft.com/office/powerpoint/2010/main" val="59483292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99BA1-00BF-C148-7715-81C52A2686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BC18DA-4091-1DA1-D561-6543AB513016}"/>
              </a:ext>
            </a:extLst>
          </p:cNvPr>
          <p:cNvSpPr>
            <a:spLocks noGrp="1"/>
          </p:cNvSpPr>
          <p:nvPr>
            <p:ph type="title"/>
          </p:nvPr>
        </p:nvSpPr>
        <p:spPr>
          <a:xfrm>
            <a:off x="5446077" y="497840"/>
            <a:ext cx="4459923" cy="301205"/>
          </a:xfrm>
        </p:spPr>
        <p:txBody>
          <a:bodyPr/>
          <a:lstStyle/>
          <a:p>
            <a:r>
              <a:rPr lang="fr-FR" dirty="0"/>
              <a:t>Session 1/2</a:t>
            </a:r>
          </a:p>
        </p:txBody>
      </p:sp>
      <p:sp>
        <p:nvSpPr>
          <p:cNvPr id="5" name="Rectangle 4">
            <a:extLst>
              <a:ext uri="{FF2B5EF4-FFF2-40B4-BE49-F238E27FC236}">
                <a16:creationId xmlns:a16="http://schemas.microsoft.com/office/drawing/2014/main" id="{20FB21F9-4936-0F5E-865E-4E7CFEA94BE9}"/>
              </a:ext>
            </a:extLst>
          </p:cNvPr>
          <p:cNvSpPr/>
          <p:nvPr/>
        </p:nvSpPr>
        <p:spPr>
          <a:xfrm>
            <a:off x="0" y="319281"/>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BC144E72-A496-593A-3036-4A88F3ED7B77}"/>
              </a:ext>
            </a:extLst>
          </p:cNvPr>
          <p:cNvSpPr/>
          <p:nvPr/>
        </p:nvSpPr>
        <p:spPr>
          <a:xfrm>
            <a:off x="9372600" y="6231329"/>
            <a:ext cx="337457" cy="3012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5.jpeg">
            <a:extLst>
              <a:ext uri="{FF2B5EF4-FFF2-40B4-BE49-F238E27FC236}">
                <a16:creationId xmlns:a16="http://schemas.microsoft.com/office/drawing/2014/main" id="{B98491EE-B80D-9C11-0425-04CDBA17A7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7477" y="6565027"/>
            <a:ext cx="1421765" cy="236220"/>
          </a:xfrm>
          <a:prstGeom prst="rect">
            <a:avLst/>
          </a:prstGeom>
        </p:spPr>
      </p:pic>
      <p:pic>
        <p:nvPicPr>
          <p:cNvPr id="4" name="Image 3">
            <a:extLst>
              <a:ext uri="{FF2B5EF4-FFF2-40B4-BE49-F238E27FC236}">
                <a16:creationId xmlns:a16="http://schemas.microsoft.com/office/drawing/2014/main" id="{E33DD5CC-8B3A-F447-B39F-A114A3BF149A}"/>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68728" y="6532534"/>
            <a:ext cx="931592" cy="301206"/>
          </a:xfrm>
          <a:prstGeom prst="rect">
            <a:avLst/>
          </a:prstGeom>
        </p:spPr>
      </p:pic>
      <p:sp>
        <p:nvSpPr>
          <p:cNvPr id="9" name="ZoneTexte 8">
            <a:extLst>
              <a:ext uri="{FF2B5EF4-FFF2-40B4-BE49-F238E27FC236}">
                <a16:creationId xmlns:a16="http://schemas.microsoft.com/office/drawing/2014/main" id="{F97C0004-5D45-67A8-9127-2C6981DE4B71}"/>
              </a:ext>
            </a:extLst>
          </p:cNvPr>
          <p:cNvSpPr txBox="1"/>
          <p:nvPr/>
        </p:nvSpPr>
        <p:spPr>
          <a:xfrm>
            <a:off x="493077" y="1031966"/>
            <a:ext cx="9108123" cy="5016758"/>
          </a:xfrm>
          <a:prstGeom prst="rect">
            <a:avLst/>
          </a:prstGeom>
          <a:noFill/>
        </p:spPr>
        <p:txBody>
          <a:bodyPr wrap="square">
            <a:spAutoFit/>
          </a:bodyPr>
          <a:lstStyle/>
          <a:p>
            <a:r>
              <a:rPr lang="fr-FR" sz="3200" b="1" dirty="0"/>
              <a:t>Exercice 5 : Amélioration continue de la gestion financière</a:t>
            </a:r>
          </a:p>
          <a:p>
            <a:endParaRPr lang="fr-FR" sz="3200" b="1" dirty="0"/>
          </a:p>
          <a:p>
            <a:r>
              <a:rPr lang="fr-FR" sz="3200" dirty="0"/>
              <a:t>Analysez un retour d'expérience d'un projet passé où la gestion financière a été un enjeu majeur. Identifiez deux points forts et deux points faibles de la gestion financière dans ce projet, puis proposez des pistes d'amélioration basées sur cette analyse. Expliquez en quoi ces pistes d'amélioration contribueraient à une meilleure gestion financière dans des projets futurs.</a:t>
            </a:r>
          </a:p>
        </p:txBody>
      </p:sp>
    </p:spTree>
    <p:extLst>
      <p:ext uri="{BB962C8B-B14F-4D97-AF65-F5344CB8AC3E}">
        <p14:creationId xmlns:p14="http://schemas.microsoft.com/office/powerpoint/2010/main" val="269561948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23741</TotalTime>
  <Words>2164</Words>
  <Application>Microsoft Office PowerPoint</Application>
  <PresentationFormat>Format A4 (210 x 297 mm)</PresentationFormat>
  <Paragraphs>362</Paragraphs>
  <Slides>27</Slides>
  <Notes>16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27</vt:i4>
      </vt:variant>
    </vt:vector>
  </HeadingPairs>
  <TitlesOfParts>
    <vt:vector size="33" baseType="lpstr">
      <vt:lpstr>Arial</vt:lpstr>
      <vt:lpstr>Calibri</vt:lpstr>
      <vt:lpstr>Calibri Light</vt:lpstr>
      <vt:lpstr>Times New Roman</vt:lpstr>
      <vt:lpstr>Wingdings</vt:lpstr>
      <vt:lpstr>Thème Office</vt:lpstr>
      <vt:lpstr>Session 1/2</vt:lpstr>
      <vt:lpstr>Sommaire</vt:lpstr>
      <vt:lpstr>Présentations</vt:lpstr>
      <vt:lpstr>Intervenant : Rémy DURAND</vt:lpstr>
      <vt:lpstr>Présentation</vt:lpstr>
      <vt:lpstr>Plan du Module : 1/5</vt:lpstr>
      <vt:lpstr>Plan du Module : 2/5</vt:lpstr>
      <vt:lpstr>Plan du Module : 3/5</vt:lpstr>
      <vt:lpstr>Plan du Module : 4/5</vt:lpstr>
      <vt:lpstr>Plan du Module : 5/5</vt:lpstr>
      <vt:lpstr>Session 1/2</vt:lpstr>
      <vt:lpstr>Session 1/2</vt:lpstr>
      <vt:lpstr>Session 1/2</vt:lpstr>
      <vt:lpstr>Session 1/2</vt:lpstr>
      <vt:lpstr>Session 1/2</vt:lpstr>
      <vt:lpstr>Session 1/2</vt:lpstr>
      <vt:lpstr>Session 1/2</vt:lpstr>
      <vt:lpstr>Session 1/2</vt:lpstr>
      <vt:lpstr>Cycle organisationnel CMMI</vt:lpstr>
      <vt:lpstr>Management des systèmes selon ISO</vt:lpstr>
      <vt:lpstr>Session 1/2</vt:lpstr>
      <vt:lpstr>Session 1/2</vt:lpstr>
      <vt:lpstr>Session 1/2</vt:lpstr>
      <vt:lpstr>Session 1/2</vt:lpstr>
      <vt:lpstr>Session 1/2</vt:lpstr>
      <vt:lpstr>Session 1/2</vt:lpstr>
      <vt:lpstr>Session 1/2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Administrateur Informatique</dc:creator>
  <cp:lastModifiedBy>Remy DURAND</cp:lastModifiedBy>
  <cp:revision>376</cp:revision>
  <cp:lastPrinted>2018-10-03T16:11:31Z</cp:lastPrinted>
  <dcterms:created xsi:type="dcterms:W3CDTF">2016-03-03T15:52:03Z</dcterms:created>
  <dcterms:modified xsi:type="dcterms:W3CDTF">2026-02-12T12:40:31Z</dcterms:modified>
</cp:coreProperties>
</file>